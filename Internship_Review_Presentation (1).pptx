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630ebb-140e-21e0-af84-093f42ea82b1}">
          <p14:sldIdLst>
            <p14:sldId id="256"/>
          </p14:sldIdLst>
        </p14:section>
        <p14:section name="Internship" id="{7f5806f7-e01c-4879-d0ab-c507b877d696}">
          <p14:sldIdLst>
            <p14:sldId id="257"/>
            <p14:sldId id="258"/>
            <p14:sldId id="259"/>
            <p14:sldId id="260"/>
          </p14:sldIdLst>
        </p14:section>
        <p14:section name="Project" id="{9d6961f6-11a0-615a-b848-2a5d84c5228b}">
          <p14:sldIdLst>
            <p14:sldId id="261"/>
            <p14:sldId id="262"/>
          </p14:sldIdLst>
        </p14:section>
        <p14:section name="Outcomes" id="{9821be22-01ac-9bb5-5c7f-8de7f50c45aa}">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Sribalaji. This is my summer internship review. I did a 30-day internship at Fantasy Solution in Trichy in the Cyber Security domain. My project was a File Encryption and Decryption System using the AES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many people store important files on computers and the cloud. If the files are not protected, they can be hacked or stolen. My project solves this by encrypting the files with AES before storing them. Only a logged-in user with the correct secret key can open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my internship at Fantasy Solution in Trichy. It is an IT company that does software development, web design, web hosting and training. The internship ran for 30 days in the Cyber Security domain, and the project assigned to me was the File Encryption and Decryption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were two kinds of objectives. For the internship: learn cyber security and cryptography, improve my programming skills, and get real project experience. For the project: build a secure web application that encrypts and decrypts files, and make sure only authorized users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 explain my 30 days in four phases. Days 1 to 5: I learned the basics of cyber security and AES. Days 6 to 9: I planned the project, designed the system and set up the database. Days 10 to 18: I built the login, file upload, encryption, decryption, download and the frontend. Days 19 to 30: I tested everything, fixed bugs, added security features, wrote the report and gave the final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application works. The user registers and logs in, uploads a file, and enters a secret AES key. The system encrypts the file and stores only the encrypted version. To open it later, the user enters the correct key, the file is decrypted, and the original file can be downloaded. If the key is wrong, access is denied. The system also records upload, encryption and decryption activity. In the report I also described three roles: Administrator, Authorized User and Security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backend I used Java with Spring Boot. Hibernate and JPA connect the application to the MySQL database. The frontend uses HTML, CSS, JavaScript and Bootstrap. AES is the encryption algorithm. I used Maven and an IDE to build the project, and REST APIs connect the frontend with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skills I gained: Java and Spring Boot, using AES in a real project, database design, connecting frontend and backend, and testing and documentation. On the right is what I learned: the CIA Triad which means Confidentiality, Integrity and Availability, how common cyber attacks work, the difference between symmetric and asymmetric encryption, and how a real project is carried out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challenges and how I handled them. The secret key must be correct, so the system checks it before decrypting. To stop unauthorized access I used login, access control and roles. During testing I found bugs, so I did unit and integration testing and fixed them. Large files take more time to process, so I tested different file types and optimized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completed a 30-day internship at Fantasy Solution in Cyber Security. I built a working web application that encrypts and decrypts files using AES, and I gained practical skills in cybersecurity and full-stack Java development. In future the project can be improved with AES plus RSA for key sharing, two-factor authentication and cloud storage. Thank you.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521208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2926080"/>
            <a:ext cx="5212080" cy="1645920"/>
          </a:xfrm>
          <a:prstGeom prst="rect">
            <a:avLst/>
          </a:prstGeom>
          <a:noFill/>
          <a:ln/>
        </p:spPr>
        <p:txBody>
          <a:bodyPr wrap="square" rtlCol="0"/>
          <a:lstStyle>
            <a:lvl1pPr algn="l" indent="0" marL="0">
              <a:buNone/>
              <a:defRPr lang="en-US" sz="1400" dirty="0">
                <a:solidFill>
                  <a:schemeClr val="bg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480060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File Encryption and Decryption using AES Algorithm</a:t>
            </a:r>
            <a:endParaRPr lang="en-US" sz="10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5212080" cy="1737360"/>
          </a:xfrm>
          <a:prstGeom prst="rect">
            <a:avLst/>
          </a:prstGeom>
          <a:noFill/>
          <a:ln/>
        </p:spPr>
        <p:txBody>
          <a:bodyPr wrap="square" lIns="0" tIns="0" rIns="0" bIns="0" rtlCol="0" anchor="t"/>
          <a:lstStyle/>
          <a:p>
            <a:pPr algn="l" indent="0" marL="0">
              <a:buNone/>
            </a:pPr>
            <a:r>
              <a:rPr lang="en-US" sz="3400" b="1" dirty="0">
                <a:solidFill>
                  <a:schemeClr val="bg1"/>
                </a:solidFill>
              </a:rPr>
              <a:t>File Encryption and Decryption using AES Algorithm</a:t>
            </a:r>
            <a:endParaRPr lang="en-US" sz="3400" dirty="0"/>
          </a:p>
        </p:txBody>
      </p:sp>
      <p:sp>
        <p:nvSpPr>
          <p:cNvPr id="3" name="Text 0"/>
          <p:cNvSpPr/>
          <p:nvPr>
            <p:ph idx="101" type="body" hasCustomPrompt="1"/>
          </p:nvPr>
        </p:nvSpPr>
        <p:spPr>
          <a:xfrm>
            <a:off x="640080" y="2926080"/>
            <a:ext cx="5212080" cy="1645920"/>
          </a:xfrm>
          <a:prstGeom prst="rect">
            <a:avLst/>
          </a:prstGeom>
          <a:noFill/>
          <a:ln/>
        </p:spPr>
        <p:txBody>
          <a:bodyPr wrap="square" lIns="0" tIns="0" rIns="0" bIns="0" rtlCol="0" anchor="t"/>
          <a:lstStyle/>
          <a:p>
            <a:pPr algn="l" indent="0" marL="0">
              <a:spcAft>
                <a:spcPts val="1000"/>
              </a:spcAft>
              <a:buNone/>
            </a:pPr>
            <a:r>
              <a:rPr lang="en-US" sz="2000" b="1" dirty="0">
                <a:solidFill>
                  <a:srgbClr val="F5A524"/>
                </a:solidFill>
              </a:rPr>
              <a:t>Summer Internship Review</a:t>
            </a:r>
            <a:endParaRPr lang="en-US" sz="1400" dirty="0"/>
          </a:p>
          <a:p>
            <a:pPr algn="l" indent="0" marL="0">
              <a:spcAft>
                <a:spcPts val="400"/>
              </a:spcAft>
              <a:buNone/>
            </a:pPr>
            <a:r>
              <a:rPr lang="en-US" sz="1600" b="1" dirty="0">
                <a:solidFill>
                  <a:schemeClr val="bg1"/>
                </a:solidFill>
              </a:rPr>
              <a:t>Sribalaji G  |  810023205074</a:t>
            </a:r>
            <a:endParaRPr lang="en-US" sz="1400" dirty="0"/>
          </a:p>
          <a:p>
            <a:pPr algn="l" indent="0" marL="0">
              <a:spcAft>
                <a:spcPts val="400"/>
              </a:spcAft>
              <a:buNone/>
            </a:pPr>
            <a:r>
              <a:rPr lang="en-US" sz="1400" dirty="0">
                <a:solidFill>
                  <a:schemeClr val="bg1"/>
                </a:solidFill>
              </a:rPr>
              <a:t>B.Tech Information Technology</a:t>
            </a:r>
            <a:endParaRPr lang="en-US" sz="1400" dirty="0"/>
          </a:p>
          <a:p>
            <a:pPr algn="l" indent="0" marL="0">
              <a:spcAft>
                <a:spcPts val="400"/>
              </a:spcAft>
              <a:buNone/>
            </a:pPr>
            <a:r>
              <a:rPr lang="en-US" sz="1400" dirty="0">
                <a:solidFill>
                  <a:schemeClr val="bg1"/>
                </a:solidFill>
              </a:rPr>
              <a:t>UCE (BIT Campus), Anna University, Tiruchirappalli</a:t>
            </a:r>
            <a:endParaRPr lang="en-US" sz="1400" dirty="0"/>
          </a:p>
          <a:p>
            <a:pPr algn="l" indent="0" marL="0">
              <a:buNone/>
            </a:pPr>
            <a:r>
              <a:rPr lang="en-US" sz="1400" dirty="0">
                <a:solidFill>
                  <a:schemeClr val="bg1"/>
                </a:solidFill>
              </a:rPr>
              <a:t>Internship at Fantasy Solution, Trichy</a:t>
            </a:r>
            <a:endParaRPr lang="en-US" sz="1400" dirty="0"/>
          </a:p>
        </p:txBody>
      </p:sp>
      <p:sp>
        <p:nvSpPr>
          <p:cNvPr id="4" name="Hero outer circle"/>
          <p:cNvSpPr/>
          <p:nvPr/>
        </p:nvSpPr>
        <p:spPr>
          <a:xfrm>
            <a:off x="6263640" y="1234440"/>
            <a:ext cx="2468880" cy="2468880"/>
          </a:xfrm>
          <a:prstGeom prst="ellipse">
            <a:avLst/>
          </a:prstGeom>
          <a:solidFill>
            <a:schemeClr val="tx2"/>
          </a:solidFill>
          <a:ln/>
        </p:spPr>
      </p:sp>
      <p:sp>
        <p:nvSpPr>
          <p:cNvPr id="5" name="Hero inner circle"/>
          <p:cNvSpPr/>
          <p:nvPr/>
        </p:nvSpPr>
        <p:spPr>
          <a:xfrm>
            <a:off x="6675120" y="1645920"/>
            <a:ext cx="1645920" cy="1645920"/>
          </a:xfrm>
          <a:prstGeom prst="ellipse">
            <a:avLst/>
          </a:prstGeom>
          <a:solidFill>
            <a:schemeClr val="accent1"/>
          </a:solidFill>
          <a:ln/>
        </p:spPr>
      </p:sp>
      <p:pic>
        <p:nvPicPr>
          <p:cNvPr id="6" name="Hero lock icon" descr="preencoded.png">    </p:cNvPr>
          <p:cNvPicPr>
            <a:picLocks noChangeAspect="1"/>
          </p:cNvPicPr>
          <p:nvPr/>
        </p:nvPicPr>
        <p:blipFill>
          <a:blip r:embed="rId1"/>
          <a:stretch>
            <a:fillRect/>
          </a:stretch>
        </p:blipFill>
        <p:spPr>
          <a:xfrm>
            <a:off x="7132320" y="210312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Introduction</a:t>
            </a:r>
            <a:endParaRPr lang="en-US" sz="3200" dirty="0"/>
          </a:p>
        </p:txBody>
      </p:sp>
      <p:sp>
        <p:nvSpPr>
          <p:cNvPr id="3" name="Intro card 1"/>
          <p:cNvSpPr/>
          <p:nvPr/>
        </p:nvSpPr>
        <p:spPr>
          <a:xfrm>
            <a:off x="548640" y="1280160"/>
            <a:ext cx="8046720" cy="960120"/>
          </a:xfrm>
          <a:prstGeom prst="roundRect">
            <a:avLst>
              <a:gd name="adj" fmla="val 9524"/>
            </a:avLst>
          </a:prstGeom>
          <a:solidFill>
            <a:schemeClr val="bg2"/>
          </a:solidFill>
          <a:ln/>
        </p:spPr>
      </p:sp>
      <p:sp>
        <p:nvSpPr>
          <p:cNvPr id="4" name="Intro icon 1 circle"/>
          <p:cNvSpPr/>
          <p:nvPr/>
        </p:nvSpPr>
        <p:spPr>
          <a:xfrm>
            <a:off x="777240" y="1463040"/>
            <a:ext cx="594360" cy="594360"/>
          </a:xfrm>
          <a:prstGeom prst="ellipse">
            <a:avLst/>
          </a:prstGeom>
          <a:solidFill>
            <a:schemeClr val="accent1"/>
          </a:solidFill>
          <a:ln/>
        </p:spPr>
      </p:sp>
      <p:pic>
        <p:nvPicPr>
          <p:cNvPr id="5" name="Intro icon 1 image" descr="preencoded.png">    </p:cNvPr>
          <p:cNvPicPr>
            <a:picLocks noChangeAspect="1"/>
          </p:cNvPicPr>
          <p:nvPr/>
        </p:nvPicPr>
        <p:blipFill>
          <a:blip r:embed="rId1"/>
          <a:stretch>
            <a:fillRect/>
          </a:stretch>
        </p:blipFill>
        <p:spPr>
          <a:xfrm>
            <a:off x="937717" y="1623517"/>
            <a:ext cx="273406" cy="273406"/>
          </a:xfrm>
          <a:prstGeom prst="rect">
            <a:avLst/>
          </a:prstGeom>
        </p:spPr>
      </p:pic>
      <p:sp>
        <p:nvSpPr>
          <p:cNvPr id="6" name="Intro text 1"/>
          <p:cNvSpPr txBox="1"/>
          <p:nvPr/>
        </p:nvSpPr>
        <p:spPr>
          <a:xfrm>
            <a:off x="1600200" y="1353312"/>
            <a:ext cx="6766560" cy="813816"/>
          </a:xfrm>
          <a:prstGeom prst="rect">
            <a:avLst/>
          </a:prstGeom>
          <a:noFill/>
          <a:ln/>
        </p:spPr>
        <p:txBody>
          <a:bodyPr wrap="square" lIns="0" tIns="0" rIns="0" bIns="0" rtlCol="0" anchor="ctr"/>
          <a:lstStyle/>
          <a:p>
            <a:pPr indent="0" marL="0">
              <a:buNone/>
            </a:pPr>
            <a:r>
              <a:rPr lang="en-US" sz="1800" b="1" dirty="0">
                <a:solidFill>
                  <a:schemeClr val="tx1"/>
                </a:solidFill>
              </a:rPr>
              <a:t>Why it matters</a:t>
            </a:r>
            <a:endParaRPr lang="en-US" sz="1800" dirty="0"/>
          </a:p>
          <a:p>
            <a:pPr indent="0" marL="0">
              <a:buNone/>
            </a:pPr>
            <a:r>
              <a:rPr lang="en-US" sz="1400" dirty="0">
                <a:solidFill>
                  <a:schemeClr val="tx2"/>
                </a:solidFill>
              </a:rPr>
              <a:t>People keep personal and business files on computers and the cloud. Without protection, these files can be hacked or stolen.</a:t>
            </a:r>
            <a:endParaRPr lang="en-US" sz="1800" dirty="0"/>
          </a:p>
        </p:txBody>
      </p:sp>
      <p:sp>
        <p:nvSpPr>
          <p:cNvPr id="7" name="Intro card 2"/>
          <p:cNvSpPr/>
          <p:nvPr/>
        </p:nvSpPr>
        <p:spPr>
          <a:xfrm>
            <a:off x="548640" y="2468880"/>
            <a:ext cx="8046720" cy="960120"/>
          </a:xfrm>
          <a:prstGeom prst="roundRect">
            <a:avLst>
              <a:gd name="adj" fmla="val 9524"/>
            </a:avLst>
          </a:prstGeom>
          <a:solidFill>
            <a:schemeClr val="bg2"/>
          </a:solidFill>
          <a:ln/>
        </p:spPr>
      </p:sp>
      <p:sp>
        <p:nvSpPr>
          <p:cNvPr id="8" name="Intro icon 2 circle"/>
          <p:cNvSpPr/>
          <p:nvPr/>
        </p:nvSpPr>
        <p:spPr>
          <a:xfrm>
            <a:off x="777240" y="2651760"/>
            <a:ext cx="594360" cy="594360"/>
          </a:xfrm>
          <a:prstGeom prst="ellipse">
            <a:avLst/>
          </a:prstGeom>
          <a:solidFill>
            <a:schemeClr val="accent1"/>
          </a:solidFill>
          <a:ln/>
        </p:spPr>
      </p:sp>
      <p:pic>
        <p:nvPicPr>
          <p:cNvPr id="9" name="Intro icon 2 image" descr="preencoded.png">    </p:cNvPr>
          <p:cNvPicPr>
            <a:picLocks noChangeAspect="1"/>
          </p:cNvPicPr>
          <p:nvPr/>
        </p:nvPicPr>
        <p:blipFill>
          <a:blip r:embed="rId2"/>
          <a:stretch>
            <a:fillRect/>
          </a:stretch>
        </p:blipFill>
        <p:spPr>
          <a:xfrm>
            <a:off x="937717" y="2812237"/>
            <a:ext cx="273406" cy="273406"/>
          </a:xfrm>
          <a:prstGeom prst="rect">
            <a:avLst/>
          </a:prstGeom>
        </p:spPr>
      </p:pic>
      <p:sp>
        <p:nvSpPr>
          <p:cNvPr id="10" name="Intro text 2"/>
          <p:cNvSpPr txBox="1"/>
          <p:nvPr/>
        </p:nvSpPr>
        <p:spPr>
          <a:xfrm>
            <a:off x="1600200" y="2542032"/>
            <a:ext cx="6766560" cy="813816"/>
          </a:xfrm>
          <a:prstGeom prst="rect">
            <a:avLst/>
          </a:prstGeom>
          <a:noFill/>
          <a:ln/>
        </p:spPr>
        <p:txBody>
          <a:bodyPr wrap="square" lIns="0" tIns="0" rIns="0" bIns="0" rtlCol="0" anchor="ctr"/>
          <a:lstStyle/>
          <a:p>
            <a:pPr indent="0" marL="0">
              <a:buNone/>
            </a:pPr>
            <a:r>
              <a:rPr lang="en-US" sz="1800" b="1" dirty="0">
                <a:solidFill>
                  <a:schemeClr val="tx1"/>
                </a:solidFill>
              </a:rPr>
              <a:t>Our solution</a:t>
            </a:r>
            <a:endParaRPr lang="en-US" sz="1800" dirty="0"/>
          </a:p>
          <a:p>
            <a:pPr indent="0" marL="0">
              <a:buNone/>
            </a:pPr>
            <a:r>
              <a:rPr lang="en-US" sz="1400" dirty="0">
                <a:solidFill>
                  <a:schemeClr val="tx2"/>
                </a:solidFill>
              </a:rPr>
              <a:t>A web application that encrypts files with AES before they are stored.</a:t>
            </a:r>
            <a:endParaRPr lang="en-US" sz="1800" dirty="0"/>
          </a:p>
        </p:txBody>
      </p:sp>
      <p:sp>
        <p:nvSpPr>
          <p:cNvPr id="11" name="Intro card 3"/>
          <p:cNvSpPr/>
          <p:nvPr/>
        </p:nvSpPr>
        <p:spPr>
          <a:xfrm>
            <a:off x="548640" y="3657600"/>
            <a:ext cx="8046720" cy="960120"/>
          </a:xfrm>
          <a:prstGeom prst="roundRect">
            <a:avLst>
              <a:gd name="adj" fmla="val 9524"/>
            </a:avLst>
          </a:prstGeom>
          <a:solidFill>
            <a:schemeClr val="bg2"/>
          </a:solidFill>
          <a:ln/>
        </p:spPr>
      </p:sp>
      <p:sp>
        <p:nvSpPr>
          <p:cNvPr id="12" name="Intro icon 3 circle"/>
          <p:cNvSpPr/>
          <p:nvPr/>
        </p:nvSpPr>
        <p:spPr>
          <a:xfrm>
            <a:off x="777240" y="3840480"/>
            <a:ext cx="594360" cy="594360"/>
          </a:xfrm>
          <a:prstGeom prst="ellipse">
            <a:avLst/>
          </a:prstGeom>
          <a:solidFill>
            <a:schemeClr val="accent1"/>
          </a:solidFill>
          <a:ln/>
        </p:spPr>
      </p:sp>
      <p:pic>
        <p:nvPicPr>
          <p:cNvPr id="13" name="Intro icon 3 image" descr="preencoded.png">    </p:cNvPr>
          <p:cNvPicPr>
            <a:picLocks noChangeAspect="1"/>
          </p:cNvPicPr>
          <p:nvPr/>
        </p:nvPicPr>
        <p:blipFill>
          <a:blip r:embed="rId3"/>
          <a:stretch>
            <a:fillRect/>
          </a:stretch>
        </p:blipFill>
        <p:spPr>
          <a:xfrm>
            <a:off x="937717" y="4000957"/>
            <a:ext cx="273406" cy="273406"/>
          </a:xfrm>
          <a:prstGeom prst="rect">
            <a:avLst/>
          </a:prstGeom>
        </p:spPr>
      </p:pic>
      <p:sp>
        <p:nvSpPr>
          <p:cNvPr id="14" name="Intro text 3"/>
          <p:cNvSpPr txBox="1"/>
          <p:nvPr/>
        </p:nvSpPr>
        <p:spPr>
          <a:xfrm>
            <a:off x="1600200" y="3730752"/>
            <a:ext cx="6766560" cy="813816"/>
          </a:xfrm>
          <a:prstGeom prst="rect">
            <a:avLst/>
          </a:prstGeom>
          <a:noFill/>
          <a:ln/>
        </p:spPr>
        <p:txBody>
          <a:bodyPr wrap="square" lIns="0" tIns="0" rIns="0" bIns="0" rtlCol="0" anchor="ctr"/>
          <a:lstStyle/>
          <a:p>
            <a:pPr indent="0" marL="0">
              <a:buNone/>
            </a:pPr>
            <a:r>
              <a:rPr lang="en-US" sz="1800" b="1" dirty="0">
                <a:solidFill>
                  <a:schemeClr val="tx1"/>
                </a:solidFill>
              </a:rPr>
              <a:t>Who can open the files</a:t>
            </a:r>
            <a:endParaRPr lang="en-US" sz="1800" dirty="0"/>
          </a:p>
          <a:p>
            <a:pPr indent="0" marL="0">
              <a:buNone/>
            </a:pPr>
            <a:r>
              <a:rPr lang="en-US" sz="1400" dirty="0">
                <a:solidFill>
                  <a:schemeClr val="tx2"/>
                </a:solidFill>
              </a:rPr>
              <a:t>Only logged-in users who have the correct secret key can decrypt a file.</a:t>
            </a:r>
            <a:endParaRPr lang="en-US" sz="18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Internship Overview</a:t>
            </a:r>
            <a:endParaRPr lang="en-US" sz="3200" dirty="0"/>
          </a:p>
        </p:txBody>
      </p:sp>
      <p:sp>
        <p:nvSpPr>
          <p:cNvPr id="3" name="Overview card 1"/>
          <p:cNvSpPr/>
          <p:nvPr/>
        </p:nvSpPr>
        <p:spPr>
          <a:xfrm>
            <a:off x="548640" y="1188720"/>
            <a:ext cx="3931920" cy="1280160"/>
          </a:xfrm>
          <a:prstGeom prst="roundRect">
            <a:avLst>
              <a:gd name="adj" fmla="val 7143"/>
            </a:avLst>
          </a:prstGeom>
          <a:solidFill>
            <a:schemeClr val="bg2"/>
          </a:solidFill>
          <a:ln/>
        </p:spPr>
      </p:sp>
      <p:sp>
        <p:nvSpPr>
          <p:cNvPr id="4" name="Overview icon 1 circle"/>
          <p:cNvSpPr/>
          <p:nvPr/>
        </p:nvSpPr>
        <p:spPr>
          <a:xfrm>
            <a:off x="777240" y="1536192"/>
            <a:ext cx="594360" cy="594360"/>
          </a:xfrm>
          <a:prstGeom prst="ellipse">
            <a:avLst/>
          </a:prstGeom>
          <a:solidFill>
            <a:schemeClr val="accent1"/>
          </a:solidFill>
          <a:ln/>
        </p:spPr>
      </p:sp>
      <p:pic>
        <p:nvPicPr>
          <p:cNvPr id="5" name="Overview icon 1 image" descr="preencoded.png">    </p:cNvPr>
          <p:cNvPicPr>
            <a:picLocks noChangeAspect="1"/>
          </p:cNvPicPr>
          <p:nvPr/>
        </p:nvPicPr>
        <p:blipFill>
          <a:blip r:embed="rId1"/>
          <a:stretch>
            <a:fillRect/>
          </a:stretch>
        </p:blipFill>
        <p:spPr>
          <a:xfrm>
            <a:off x="937717" y="1696669"/>
            <a:ext cx="273406" cy="273406"/>
          </a:xfrm>
          <a:prstGeom prst="rect">
            <a:avLst/>
          </a:prstGeom>
        </p:spPr>
      </p:pic>
      <p:sp>
        <p:nvSpPr>
          <p:cNvPr id="6" name="Overview text 1"/>
          <p:cNvSpPr txBox="1"/>
          <p:nvPr/>
        </p:nvSpPr>
        <p:spPr>
          <a:xfrm>
            <a:off x="1554480" y="1325880"/>
            <a:ext cx="2788920" cy="1005840"/>
          </a:xfrm>
          <a:prstGeom prst="rect">
            <a:avLst/>
          </a:prstGeom>
          <a:noFill/>
          <a:ln/>
        </p:spPr>
        <p:txBody>
          <a:bodyPr wrap="square" lIns="0" tIns="0" rIns="0" bIns="0" rtlCol="0" anchor="ctr"/>
          <a:lstStyle/>
          <a:p>
            <a:pPr indent="0" marL="0">
              <a:buNone/>
            </a:pPr>
            <a:r>
              <a:rPr lang="en-US" sz="1200" b="1" spc="200" kern="0" dirty="0">
                <a:solidFill>
                  <a:schemeClr val="accent4"/>
                </a:solidFill>
              </a:rPr>
              <a:t>COMPANY</a:t>
            </a:r>
            <a:endParaRPr lang="en-US" sz="1200" dirty="0"/>
          </a:p>
          <a:p>
            <a:pPr indent="0" marL="0">
              <a:buNone/>
            </a:pPr>
            <a:r>
              <a:rPr lang="en-US" sz="2000" b="1" dirty="0">
                <a:solidFill>
                  <a:schemeClr val="tx1"/>
                </a:solidFill>
              </a:rPr>
              <a:t>Fantasy Solution, Trichy</a:t>
            </a:r>
            <a:endParaRPr lang="en-US" sz="1200" dirty="0"/>
          </a:p>
        </p:txBody>
      </p:sp>
      <p:sp>
        <p:nvSpPr>
          <p:cNvPr id="7" name="Overview card 2"/>
          <p:cNvSpPr/>
          <p:nvPr/>
        </p:nvSpPr>
        <p:spPr>
          <a:xfrm>
            <a:off x="4663440" y="1188720"/>
            <a:ext cx="3931920" cy="1280160"/>
          </a:xfrm>
          <a:prstGeom prst="roundRect">
            <a:avLst>
              <a:gd name="adj" fmla="val 7143"/>
            </a:avLst>
          </a:prstGeom>
          <a:solidFill>
            <a:schemeClr val="bg2"/>
          </a:solidFill>
          <a:ln/>
        </p:spPr>
      </p:sp>
      <p:sp>
        <p:nvSpPr>
          <p:cNvPr id="8" name="Overview icon 2 circle"/>
          <p:cNvSpPr/>
          <p:nvPr/>
        </p:nvSpPr>
        <p:spPr>
          <a:xfrm>
            <a:off x="4892040" y="1536192"/>
            <a:ext cx="594360" cy="594360"/>
          </a:xfrm>
          <a:prstGeom prst="ellipse">
            <a:avLst/>
          </a:prstGeom>
          <a:solidFill>
            <a:schemeClr val="accent1"/>
          </a:solidFill>
          <a:ln/>
        </p:spPr>
      </p:sp>
      <p:pic>
        <p:nvPicPr>
          <p:cNvPr id="9" name="Overview icon 2 image" descr="preencoded.png">    </p:cNvPr>
          <p:cNvPicPr>
            <a:picLocks noChangeAspect="1"/>
          </p:cNvPicPr>
          <p:nvPr/>
        </p:nvPicPr>
        <p:blipFill>
          <a:blip r:embed="rId2"/>
          <a:stretch>
            <a:fillRect/>
          </a:stretch>
        </p:blipFill>
        <p:spPr>
          <a:xfrm>
            <a:off x="5052517" y="1696669"/>
            <a:ext cx="273406" cy="273406"/>
          </a:xfrm>
          <a:prstGeom prst="rect">
            <a:avLst/>
          </a:prstGeom>
        </p:spPr>
      </p:pic>
      <p:sp>
        <p:nvSpPr>
          <p:cNvPr id="10" name="Overview text 2"/>
          <p:cNvSpPr txBox="1"/>
          <p:nvPr/>
        </p:nvSpPr>
        <p:spPr>
          <a:xfrm>
            <a:off x="5669280" y="1325880"/>
            <a:ext cx="2788920" cy="1005840"/>
          </a:xfrm>
          <a:prstGeom prst="rect">
            <a:avLst/>
          </a:prstGeom>
          <a:noFill/>
          <a:ln/>
        </p:spPr>
        <p:txBody>
          <a:bodyPr wrap="square" lIns="0" tIns="0" rIns="0" bIns="0" rtlCol="0" anchor="ctr"/>
          <a:lstStyle/>
          <a:p>
            <a:pPr indent="0" marL="0">
              <a:buNone/>
            </a:pPr>
            <a:r>
              <a:rPr lang="en-US" sz="1200" b="1" spc="200" kern="0" dirty="0">
                <a:solidFill>
                  <a:schemeClr val="accent4"/>
                </a:solidFill>
              </a:rPr>
              <a:t>DOMAIN</a:t>
            </a:r>
            <a:endParaRPr lang="en-US" sz="1200" dirty="0"/>
          </a:p>
          <a:p>
            <a:pPr indent="0" marL="0">
              <a:buNone/>
            </a:pPr>
            <a:r>
              <a:rPr lang="en-US" sz="2000" b="1" dirty="0">
                <a:solidFill>
                  <a:schemeClr val="tx1"/>
                </a:solidFill>
              </a:rPr>
              <a:t>Cyber Security</a:t>
            </a:r>
            <a:endParaRPr lang="en-US" sz="1200" dirty="0"/>
          </a:p>
        </p:txBody>
      </p:sp>
      <p:sp>
        <p:nvSpPr>
          <p:cNvPr id="11" name="Overview card 3"/>
          <p:cNvSpPr/>
          <p:nvPr/>
        </p:nvSpPr>
        <p:spPr>
          <a:xfrm>
            <a:off x="548640" y="2651760"/>
            <a:ext cx="3931920" cy="1280160"/>
          </a:xfrm>
          <a:prstGeom prst="roundRect">
            <a:avLst>
              <a:gd name="adj" fmla="val 7143"/>
            </a:avLst>
          </a:prstGeom>
          <a:solidFill>
            <a:schemeClr val="bg2"/>
          </a:solidFill>
          <a:ln/>
        </p:spPr>
      </p:sp>
      <p:sp>
        <p:nvSpPr>
          <p:cNvPr id="12" name="Overview icon 3 circle"/>
          <p:cNvSpPr/>
          <p:nvPr/>
        </p:nvSpPr>
        <p:spPr>
          <a:xfrm>
            <a:off x="777240" y="2999232"/>
            <a:ext cx="594360" cy="594360"/>
          </a:xfrm>
          <a:prstGeom prst="ellipse">
            <a:avLst/>
          </a:prstGeom>
          <a:solidFill>
            <a:schemeClr val="accent1"/>
          </a:solidFill>
          <a:ln/>
        </p:spPr>
      </p:sp>
      <p:pic>
        <p:nvPicPr>
          <p:cNvPr id="13" name="Overview icon 3 image" descr="preencoded.png">    </p:cNvPr>
          <p:cNvPicPr>
            <a:picLocks noChangeAspect="1"/>
          </p:cNvPicPr>
          <p:nvPr/>
        </p:nvPicPr>
        <p:blipFill>
          <a:blip r:embed="rId3"/>
          <a:stretch>
            <a:fillRect/>
          </a:stretch>
        </p:blipFill>
        <p:spPr>
          <a:xfrm>
            <a:off x="937717" y="3159709"/>
            <a:ext cx="273406" cy="273406"/>
          </a:xfrm>
          <a:prstGeom prst="rect">
            <a:avLst/>
          </a:prstGeom>
        </p:spPr>
      </p:pic>
      <p:sp>
        <p:nvSpPr>
          <p:cNvPr id="14" name="Overview text 3"/>
          <p:cNvSpPr txBox="1"/>
          <p:nvPr/>
        </p:nvSpPr>
        <p:spPr>
          <a:xfrm>
            <a:off x="1554480" y="2788920"/>
            <a:ext cx="2788920" cy="1005840"/>
          </a:xfrm>
          <a:prstGeom prst="rect">
            <a:avLst/>
          </a:prstGeom>
          <a:noFill/>
          <a:ln/>
        </p:spPr>
        <p:txBody>
          <a:bodyPr wrap="square" lIns="0" tIns="0" rIns="0" bIns="0" rtlCol="0" anchor="ctr"/>
          <a:lstStyle/>
          <a:p>
            <a:pPr indent="0" marL="0">
              <a:buNone/>
            </a:pPr>
            <a:r>
              <a:rPr lang="en-US" sz="1200" b="1" spc="200" kern="0" dirty="0">
                <a:solidFill>
                  <a:schemeClr val="accent4"/>
                </a:solidFill>
              </a:rPr>
              <a:t>DURATION</a:t>
            </a:r>
            <a:endParaRPr lang="en-US" sz="1200" dirty="0"/>
          </a:p>
          <a:p>
            <a:pPr indent="0" marL="0">
              <a:buNone/>
            </a:pPr>
            <a:r>
              <a:rPr lang="en-US" sz="2000" b="1" dirty="0">
                <a:solidFill>
                  <a:schemeClr val="tx1"/>
                </a:solidFill>
              </a:rPr>
              <a:t>30 days</a:t>
            </a:r>
            <a:endParaRPr lang="en-US" sz="1200" dirty="0"/>
          </a:p>
        </p:txBody>
      </p:sp>
      <p:sp>
        <p:nvSpPr>
          <p:cNvPr id="15" name="Overview card 4"/>
          <p:cNvSpPr/>
          <p:nvPr/>
        </p:nvSpPr>
        <p:spPr>
          <a:xfrm>
            <a:off x="4663440" y="2651760"/>
            <a:ext cx="3931920" cy="1280160"/>
          </a:xfrm>
          <a:prstGeom prst="roundRect">
            <a:avLst>
              <a:gd name="adj" fmla="val 7143"/>
            </a:avLst>
          </a:prstGeom>
          <a:solidFill>
            <a:schemeClr val="bg2"/>
          </a:solidFill>
          <a:ln/>
        </p:spPr>
      </p:sp>
      <p:sp>
        <p:nvSpPr>
          <p:cNvPr id="16" name="Overview icon 4 circle"/>
          <p:cNvSpPr/>
          <p:nvPr/>
        </p:nvSpPr>
        <p:spPr>
          <a:xfrm>
            <a:off x="4892040" y="2999232"/>
            <a:ext cx="594360" cy="594360"/>
          </a:xfrm>
          <a:prstGeom prst="ellipse">
            <a:avLst/>
          </a:prstGeom>
          <a:solidFill>
            <a:schemeClr val="accent1"/>
          </a:solidFill>
          <a:ln/>
        </p:spPr>
      </p:sp>
      <p:pic>
        <p:nvPicPr>
          <p:cNvPr id="17" name="Overview icon 4 image" descr="preencoded.png">    </p:cNvPr>
          <p:cNvPicPr>
            <a:picLocks noChangeAspect="1"/>
          </p:cNvPicPr>
          <p:nvPr/>
        </p:nvPicPr>
        <p:blipFill>
          <a:blip r:embed="rId4"/>
          <a:stretch>
            <a:fillRect/>
          </a:stretch>
        </p:blipFill>
        <p:spPr>
          <a:xfrm>
            <a:off x="5052517" y="3159709"/>
            <a:ext cx="273406" cy="273406"/>
          </a:xfrm>
          <a:prstGeom prst="rect">
            <a:avLst/>
          </a:prstGeom>
        </p:spPr>
      </p:pic>
      <p:sp>
        <p:nvSpPr>
          <p:cNvPr id="18" name="Overview text 4"/>
          <p:cNvSpPr txBox="1"/>
          <p:nvPr/>
        </p:nvSpPr>
        <p:spPr>
          <a:xfrm>
            <a:off x="5669280" y="2788920"/>
            <a:ext cx="2788920" cy="1005840"/>
          </a:xfrm>
          <a:prstGeom prst="rect">
            <a:avLst/>
          </a:prstGeom>
          <a:noFill/>
          <a:ln/>
        </p:spPr>
        <p:txBody>
          <a:bodyPr wrap="square" lIns="0" tIns="0" rIns="0" bIns="0" rtlCol="0" anchor="ctr"/>
          <a:lstStyle/>
          <a:p>
            <a:pPr indent="0" marL="0">
              <a:buNone/>
            </a:pPr>
            <a:r>
              <a:rPr lang="en-US" sz="1200" b="1" spc="200" kern="0" dirty="0">
                <a:solidFill>
                  <a:schemeClr val="accent4"/>
                </a:solidFill>
              </a:rPr>
              <a:t>PROJECT</a:t>
            </a:r>
            <a:endParaRPr lang="en-US" sz="1200" dirty="0"/>
          </a:p>
          <a:p>
            <a:pPr indent="0" marL="0">
              <a:buNone/>
            </a:pPr>
            <a:r>
              <a:rPr lang="en-US" sz="2000" b="1" dirty="0">
                <a:solidFill>
                  <a:schemeClr val="tx1"/>
                </a:solidFill>
              </a:rPr>
              <a:t>File Encryption and Decryption System</a:t>
            </a:r>
            <a:endParaRPr lang="en-US" sz="1200" dirty="0"/>
          </a:p>
        </p:txBody>
      </p:sp>
      <p:sp>
        <p:nvSpPr>
          <p:cNvPr id="19" name="Company line"/>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1400" b="1" dirty="0">
                <a:solidFill>
                  <a:schemeClr val="tx1"/>
                </a:solidFill>
              </a:rPr>
              <a:t>About the company: </a:t>
            </a:r>
            <a:pPr indent="0" marL="0">
              <a:buNone/>
            </a:pPr>
            <a:r>
              <a:rPr lang="en-US" sz="1400" dirty="0">
                <a:solidFill>
                  <a:schemeClr val="tx2"/>
                </a:solidFill>
              </a:rPr>
              <a:t>An IT solutions provider offering software development, web design, web hosting and IT training.</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Objectives</a:t>
            </a:r>
            <a:endParaRPr lang="en-US" sz="3200" dirty="0"/>
          </a:p>
        </p:txBody>
      </p:sp>
      <p:sp>
        <p:nvSpPr>
          <p:cNvPr id="3" name="Internship objectives card"/>
          <p:cNvSpPr/>
          <p:nvPr/>
        </p:nvSpPr>
        <p:spPr>
          <a:xfrm>
            <a:off x="548640" y="1188720"/>
            <a:ext cx="3931920" cy="3429000"/>
          </a:xfrm>
          <a:prstGeom prst="roundRect">
            <a:avLst>
              <a:gd name="adj" fmla="val 2667"/>
            </a:avLst>
          </a:prstGeom>
          <a:solidFill>
            <a:schemeClr val="bg2"/>
          </a:solidFill>
          <a:ln/>
        </p:spPr>
      </p:sp>
      <p:sp>
        <p:nvSpPr>
          <p:cNvPr id="4" name="Internship objectives icon circle"/>
          <p:cNvSpPr/>
          <p:nvPr/>
        </p:nvSpPr>
        <p:spPr>
          <a:xfrm>
            <a:off x="777240" y="1371600"/>
            <a:ext cx="502920" cy="502920"/>
          </a:xfrm>
          <a:prstGeom prst="ellipse">
            <a:avLst/>
          </a:prstGeom>
          <a:solidFill>
            <a:schemeClr val="accent1"/>
          </a:solidFill>
          <a:ln/>
        </p:spPr>
      </p:sp>
      <p:pic>
        <p:nvPicPr>
          <p:cNvPr id="5" name="Internship objectives icon image" descr="preencoded.png">    </p:cNvPr>
          <p:cNvPicPr>
            <a:picLocks noChangeAspect="1"/>
          </p:cNvPicPr>
          <p:nvPr/>
        </p:nvPicPr>
        <p:blipFill>
          <a:blip r:embed="rId1"/>
          <a:stretch>
            <a:fillRect/>
          </a:stretch>
        </p:blipFill>
        <p:spPr>
          <a:xfrm>
            <a:off x="913028" y="1507388"/>
            <a:ext cx="231343" cy="231343"/>
          </a:xfrm>
          <a:prstGeom prst="rect">
            <a:avLst/>
          </a:prstGeom>
        </p:spPr>
      </p:pic>
      <p:sp>
        <p:nvSpPr>
          <p:cNvPr id="6" name="Text 3"/>
          <p:cNvSpPr txBox="1"/>
          <p:nvPr/>
        </p:nvSpPr>
        <p:spPr>
          <a:xfrm>
            <a:off x="1417320" y="137160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Internship objectives</a:t>
            </a:r>
            <a:endParaRPr lang="en-US" sz="1800" dirty="0"/>
          </a:p>
        </p:txBody>
      </p:sp>
      <p:sp>
        <p:nvSpPr>
          <p:cNvPr id="7" name="Internship objectives list"/>
          <p:cNvSpPr txBox="1"/>
          <p:nvPr/>
        </p:nvSpPr>
        <p:spPr>
          <a:xfrm>
            <a:off x="777240" y="2057400"/>
            <a:ext cx="347472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Learn cyber security basics and secure coding</a:t>
            </a:r>
            <a:endParaRPr lang="en-US" sz="1400" dirty="0"/>
          </a:p>
          <a:p>
            <a:pPr marL="342900" indent="-342900">
              <a:spcAft>
                <a:spcPts val="800"/>
              </a:spcAft>
              <a:buSzPct val="100000"/>
              <a:buChar char="•"/>
            </a:pPr>
            <a:r>
              <a:rPr lang="en-US" sz="1400" dirty="0">
                <a:solidFill>
                  <a:schemeClr val="tx1"/>
                </a:solidFill>
              </a:rPr>
              <a:t>Understand cryptography using AES</a:t>
            </a:r>
            <a:endParaRPr lang="en-US" sz="1400" dirty="0"/>
          </a:p>
          <a:p>
            <a:pPr marL="342900" indent="-342900">
              <a:spcAft>
                <a:spcPts val="800"/>
              </a:spcAft>
              <a:buSzPct val="100000"/>
              <a:buChar char="•"/>
            </a:pPr>
            <a:r>
              <a:rPr lang="en-US" sz="1400" dirty="0">
                <a:solidFill>
                  <a:schemeClr val="tx1"/>
                </a:solidFill>
              </a:rPr>
              <a:t>Improve skills in Java, Spring Boot, MySQL and web development</a:t>
            </a:r>
            <a:endParaRPr lang="en-US" sz="1400" dirty="0"/>
          </a:p>
          <a:p>
            <a:pPr marL="342900" indent="-342900">
              <a:spcAft>
                <a:spcPts val="800"/>
              </a:spcAft>
              <a:buSzPct val="100000"/>
              <a:buChar char="•"/>
            </a:pPr>
            <a:r>
              <a:rPr lang="en-US" sz="1400" dirty="0">
                <a:solidFill>
                  <a:schemeClr val="tx1"/>
                </a:solidFill>
              </a:rPr>
              <a:t>Gain real project experience: design, build, test and deploy</a:t>
            </a:r>
            <a:endParaRPr lang="en-US" sz="1400" dirty="0"/>
          </a:p>
        </p:txBody>
      </p:sp>
      <p:sp>
        <p:nvSpPr>
          <p:cNvPr id="8" name="Project objectives card"/>
          <p:cNvSpPr/>
          <p:nvPr/>
        </p:nvSpPr>
        <p:spPr>
          <a:xfrm>
            <a:off x="4663440" y="1188720"/>
            <a:ext cx="3931920" cy="3429000"/>
          </a:xfrm>
          <a:prstGeom prst="roundRect">
            <a:avLst>
              <a:gd name="adj" fmla="val 2667"/>
            </a:avLst>
          </a:prstGeom>
          <a:solidFill>
            <a:schemeClr val="tx2"/>
          </a:solidFill>
          <a:ln/>
        </p:spPr>
      </p:sp>
      <p:sp>
        <p:nvSpPr>
          <p:cNvPr id="9" name="Project objectives icon circle"/>
          <p:cNvSpPr/>
          <p:nvPr/>
        </p:nvSpPr>
        <p:spPr>
          <a:xfrm>
            <a:off x="4892040" y="1371600"/>
            <a:ext cx="502920" cy="502920"/>
          </a:xfrm>
          <a:prstGeom prst="ellipse">
            <a:avLst/>
          </a:prstGeom>
          <a:solidFill>
            <a:schemeClr val="accent2"/>
          </a:solidFill>
          <a:ln/>
        </p:spPr>
      </p:sp>
      <p:pic>
        <p:nvPicPr>
          <p:cNvPr id="10" name="Project objectives icon image" descr="preencoded.png">    </p:cNvPr>
          <p:cNvPicPr>
            <a:picLocks noChangeAspect="1"/>
          </p:cNvPicPr>
          <p:nvPr/>
        </p:nvPicPr>
        <p:blipFill>
          <a:blip r:embed="rId2"/>
          <a:stretch>
            <a:fillRect/>
          </a:stretch>
        </p:blipFill>
        <p:spPr>
          <a:xfrm>
            <a:off x="5027828" y="1507388"/>
            <a:ext cx="231343" cy="231343"/>
          </a:xfrm>
          <a:prstGeom prst="rect">
            <a:avLst/>
          </a:prstGeom>
        </p:spPr>
      </p:pic>
      <p:sp>
        <p:nvSpPr>
          <p:cNvPr id="11" name="Text 7"/>
          <p:cNvSpPr txBox="1"/>
          <p:nvPr/>
        </p:nvSpPr>
        <p:spPr>
          <a:xfrm>
            <a:off x="5532120" y="1371600"/>
            <a:ext cx="2926080" cy="502920"/>
          </a:xfrm>
          <a:prstGeom prst="rect">
            <a:avLst/>
          </a:prstGeom>
          <a:noFill/>
          <a:ln/>
        </p:spPr>
        <p:txBody>
          <a:bodyPr wrap="square" lIns="0" tIns="0" rIns="0" bIns="0" rtlCol="0" anchor="ctr"/>
          <a:lstStyle/>
          <a:p>
            <a:pPr indent="0" marL="0">
              <a:buNone/>
            </a:pPr>
            <a:r>
              <a:rPr lang="en-US" sz="1800" b="1" dirty="0">
                <a:solidFill>
                  <a:schemeClr val="bg1"/>
                </a:solidFill>
              </a:rPr>
              <a:t>Project objectives</a:t>
            </a:r>
            <a:endParaRPr lang="en-US" sz="1800" dirty="0"/>
          </a:p>
        </p:txBody>
      </p:sp>
      <p:sp>
        <p:nvSpPr>
          <p:cNvPr id="12" name="Project objectives list"/>
          <p:cNvSpPr txBox="1"/>
          <p:nvPr/>
        </p:nvSpPr>
        <p:spPr>
          <a:xfrm>
            <a:off x="4892040" y="2057400"/>
            <a:ext cx="347472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Build a secure web app to encrypt and decrypt files</a:t>
            </a:r>
            <a:endParaRPr lang="en-US" sz="1400" dirty="0"/>
          </a:p>
          <a:p>
            <a:pPr marL="342900" indent="-342900">
              <a:spcAft>
                <a:spcPts val="800"/>
              </a:spcAft>
              <a:buSzPct val="100000"/>
              <a:buChar char="•"/>
            </a:pPr>
            <a:r>
              <a:rPr lang="en-US" sz="1400" dirty="0">
                <a:solidFill>
                  <a:schemeClr val="bg1"/>
                </a:solidFill>
              </a:rPr>
              <a:t>Protect files from unauthorized access</a:t>
            </a:r>
            <a:endParaRPr lang="en-US" sz="1400" dirty="0"/>
          </a:p>
          <a:p>
            <a:pPr marL="342900" indent="-342900">
              <a:spcAft>
                <a:spcPts val="800"/>
              </a:spcAft>
              <a:buSzPct val="100000"/>
              <a:buChar char="•"/>
            </a:pPr>
            <a:r>
              <a:rPr lang="en-US" sz="1400" dirty="0">
                <a:solidFill>
                  <a:schemeClr val="bg1"/>
                </a:solidFill>
              </a:rPr>
              <a:t>Allow only logged-in, authorized users to use the system</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Work Done in 30 Days</a:t>
            </a:r>
            <a:endParaRPr lang="en-US" sz="3200" dirty="0"/>
          </a:p>
        </p:txBody>
      </p:sp>
      <p:sp>
        <p:nvSpPr>
          <p:cNvPr id="3" name="Phase card 1"/>
          <p:cNvSpPr/>
          <p:nvPr/>
        </p:nvSpPr>
        <p:spPr>
          <a:xfrm>
            <a:off x="548640" y="1188720"/>
            <a:ext cx="3931920" cy="1554480"/>
          </a:xfrm>
          <a:prstGeom prst="roundRect">
            <a:avLst>
              <a:gd name="adj" fmla="val 5882"/>
            </a:avLst>
          </a:prstGeom>
          <a:solidFill>
            <a:schemeClr val="bg2"/>
          </a:solidFill>
          <a:ln/>
        </p:spPr>
      </p:sp>
      <p:sp>
        <p:nvSpPr>
          <p:cNvPr id="4" name="Phase badge 1"/>
          <p:cNvSpPr/>
          <p:nvPr/>
        </p:nvSpPr>
        <p:spPr>
          <a:xfrm>
            <a:off x="777240" y="1371600"/>
            <a:ext cx="1234440" cy="329184"/>
          </a:xfrm>
          <a:prstGeom prst="roundRect">
            <a:avLst>
              <a:gd name="adj" fmla="val 50000"/>
            </a:avLst>
          </a:prstGeom>
          <a:solidFill>
            <a:schemeClr val="accent1"/>
          </a:solidFill>
          <a:ln/>
        </p:spPr>
      </p:sp>
      <p:sp>
        <p:nvSpPr>
          <p:cNvPr id="5" name="Phase days 1"/>
          <p:cNvSpPr txBox="1"/>
          <p:nvPr/>
        </p:nvSpPr>
        <p:spPr>
          <a:xfrm>
            <a:off x="777240" y="1371600"/>
            <a:ext cx="1234440" cy="329184"/>
          </a:xfrm>
          <a:prstGeom prst="rect">
            <a:avLst/>
          </a:prstGeom>
          <a:noFill/>
          <a:ln/>
        </p:spPr>
        <p:txBody>
          <a:bodyPr wrap="square" lIns="0" tIns="0" rIns="0" bIns="0" rtlCol="0" anchor="ctr"/>
          <a:lstStyle/>
          <a:p>
            <a:pPr algn="ctr" indent="0" marL="0">
              <a:buNone/>
            </a:pPr>
            <a:r>
              <a:rPr lang="en-US" sz="1400" b="1" dirty="0">
                <a:solidFill>
                  <a:schemeClr val="bg1"/>
                </a:solidFill>
              </a:rPr>
              <a:t>Days 1–5</a:t>
            </a:r>
            <a:endParaRPr lang="en-US" sz="1400" dirty="0"/>
          </a:p>
        </p:txBody>
      </p:sp>
      <p:sp>
        <p:nvSpPr>
          <p:cNvPr id="6" name="Phase name 1"/>
          <p:cNvSpPr txBox="1"/>
          <p:nvPr/>
        </p:nvSpPr>
        <p:spPr>
          <a:xfrm>
            <a:off x="2194560" y="1371600"/>
            <a:ext cx="2148840" cy="329184"/>
          </a:xfrm>
          <a:prstGeom prst="rect">
            <a:avLst/>
          </a:prstGeom>
          <a:noFill/>
          <a:ln/>
        </p:spPr>
        <p:txBody>
          <a:bodyPr wrap="square" lIns="0" tIns="0" rIns="0" bIns="0" rtlCol="0" anchor="ctr"/>
          <a:lstStyle/>
          <a:p>
            <a:pPr indent="0" marL="0">
              <a:buNone/>
            </a:pPr>
            <a:r>
              <a:rPr lang="en-US" sz="1600" b="1" dirty="0">
                <a:solidFill>
                  <a:schemeClr val="tx1"/>
                </a:solidFill>
              </a:rPr>
              <a:t>Learning</a:t>
            </a:r>
            <a:endParaRPr lang="en-US" sz="1600" dirty="0"/>
          </a:p>
        </p:txBody>
      </p:sp>
      <p:sp>
        <p:nvSpPr>
          <p:cNvPr id="7" name="Phase detail 1"/>
          <p:cNvSpPr txBox="1"/>
          <p:nvPr/>
        </p:nvSpPr>
        <p:spPr>
          <a:xfrm>
            <a:off x="777240" y="1828800"/>
            <a:ext cx="3474720" cy="822960"/>
          </a:xfrm>
          <a:prstGeom prst="rect">
            <a:avLst/>
          </a:prstGeom>
          <a:noFill/>
          <a:ln/>
        </p:spPr>
        <p:txBody>
          <a:bodyPr wrap="square" lIns="0" tIns="0" rIns="0" bIns="0" rtlCol="0" anchor="t"/>
          <a:lstStyle/>
          <a:p>
            <a:pPr indent="0" marL="0">
              <a:buNone/>
            </a:pPr>
            <a:r>
              <a:rPr lang="en-US" sz="1400" dirty="0">
                <a:solidFill>
                  <a:schemeClr val="tx2"/>
                </a:solidFill>
              </a:rPr>
              <a:t>Orientation, cyber security basics, types of attacks, cryptography and the AES algorithm</a:t>
            </a:r>
            <a:endParaRPr lang="en-US" sz="1400" dirty="0"/>
          </a:p>
        </p:txBody>
      </p:sp>
      <p:sp>
        <p:nvSpPr>
          <p:cNvPr id="8" name="Phase card 2"/>
          <p:cNvSpPr/>
          <p:nvPr/>
        </p:nvSpPr>
        <p:spPr>
          <a:xfrm>
            <a:off x="4663440" y="1188720"/>
            <a:ext cx="3931920" cy="1554480"/>
          </a:xfrm>
          <a:prstGeom prst="roundRect">
            <a:avLst>
              <a:gd name="adj" fmla="val 5882"/>
            </a:avLst>
          </a:prstGeom>
          <a:solidFill>
            <a:schemeClr val="bg2"/>
          </a:solidFill>
          <a:ln/>
        </p:spPr>
      </p:sp>
      <p:sp>
        <p:nvSpPr>
          <p:cNvPr id="9" name="Phase badge 2"/>
          <p:cNvSpPr/>
          <p:nvPr/>
        </p:nvSpPr>
        <p:spPr>
          <a:xfrm>
            <a:off x="4892040" y="1371600"/>
            <a:ext cx="1234440" cy="329184"/>
          </a:xfrm>
          <a:prstGeom prst="roundRect">
            <a:avLst>
              <a:gd name="adj" fmla="val 50000"/>
            </a:avLst>
          </a:prstGeom>
          <a:solidFill>
            <a:schemeClr val="accent1"/>
          </a:solidFill>
          <a:ln/>
        </p:spPr>
      </p:sp>
      <p:sp>
        <p:nvSpPr>
          <p:cNvPr id="10" name="Phase days 2"/>
          <p:cNvSpPr txBox="1"/>
          <p:nvPr/>
        </p:nvSpPr>
        <p:spPr>
          <a:xfrm>
            <a:off x="4892040" y="1371600"/>
            <a:ext cx="1234440" cy="329184"/>
          </a:xfrm>
          <a:prstGeom prst="rect">
            <a:avLst/>
          </a:prstGeom>
          <a:noFill/>
          <a:ln/>
        </p:spPr>
        <p:txBody>
          <a:bodyPr wrap="square" lIns="0" tIns="0" rIns="0" bIns="0" rtlCol="0" anchor="ctr"/>
          <a:lstStyle/>
          <a:p>
            <a:pPr algn="ctr" indent="0" marL="0">
              <a:buNone/>
            </a:pPr>
            <a:r>
              <a:rPr lang="en-US" sz="1400" b="1" dirty="0">
                <a:solidFill>
                  <a:schemeClr val="bg1"/>
                </a:solidFill>
              </a:rPr>
              <a:t>Days 6–9</a:t>
            </a:r>
            <a:endParaRPr lang="en-US" sz="1400" dirty="0"/>
          </a:p>
        </p:txBody>
      </p:sp>
      <p:sp>
        <p:nvSpPr>
          <p:cNvPr id="11" name="Phase name 2"/>
          <p:cNvSpPr txBox="1"/>
          <p:nvPr/>
        </p:nvSpPr>
        <p:spPr>
          <a:xfrm>
            <a:off x="6309360" y="1371600"/>
            <a:ext cx="2148840" cy="329184"/>
          </a:xfrm>
          <a:prstGeom prst="rect">
            <a:avLst/>
          </a:prstGeom>
          <a:noFill/>
          <a:ln/>
        </p:spPr>
        <p:txBody>
          <a:bodyPr wrap="square" lIns="0" tIns="0" rIns="0" bIns="0" rtlCol="0" anchor="ctr"/>
          <a:lstStyle/>
          <a:p>
            <a:pPr indent="0" marL="0">
              <a:buNone/>
            </a:pPr>
            <a:r>
              <a:rPr lang="en-US" sz="1600" b="1" dirty="0">
                <a:solidFill>
                  <a:schemeClr val="tx1"/>
                </a:solidFill>
              </a:rPr>
              <a:t>Planning and Design</a:t>
            </a:r>
            <a:endParaRPr lang="en-US" sz="1600" dirty="0"/>
          </a:p>
        </p:txBody>
      </p:sp>
      <p:sp>
        <p:nvSpPr>
          <p:cNvPr id="12" name="Phase detail 2"/>
          <p:cNvSpPr txBox="1"/>
          <p:nvPr/>
        </p:nvSpPr>
        <p:spPr>
          <a:xfrm>
            <a:off x="4892040" y="1828800"/>
            <a:ext cx="3474720" cy="822960"/>
          </a:xfrm>
          <a:prstGeom prst="rect">
            <a:avLst/>
          </a:prstGeom>
          <a:noFill/>
          <a:ln/>
        </p:spPr>
        <p:txBody>
          <a:bodyPr wrap="square" lIns="0" tIns="0" rIns="0" bIns="0" rtlCol="0" anchor="t"/>
          <a:lstStyle/>
          <a:p>
            <a:pPr indent="0" marL="0">
              <a:buNone/>
            </a:pPr>
            <a:r>
              <a:rPr lang="en-US" sz="1400" dirty="0">
                <a:solidFill>
                  <a:schemeClr val="tx2"/>
                </a:solidFill>
              </a:rPr>
              <a:t>Requirements, system design and block diagram, environment setup, database design</a:t>
            </a:r>
            <a:endParaRPr lang="en-US" sz="1400" dirty="0"/>
          </a:p>
        </p:txBody>
      </p:sp>
      <p:sp>
        <p:nvSpPr>
          <p:cNvPr id="13" name="Phase card 3"/>
          <p:cNvSpPr/>
          <p:nvPr/>
        </p:nvSpPr>
        <p:spPr>
          <a:xfrm>
            <a:off x="548640" y="3017520"/>
            <a:ext cx="3931920" cy="1554480"/>
          </a:xfrm>
          <a:prstGeom prst="roundRect">
            <a:avLst>
              <a:gd name="adj" fmla="val 5882"/>
            </a:avLst>
          </a:prstGeom>
          <a:solidFill>
            <a:schemeClr val="bg2"/>
          </a:solidFill>
          <a:ln/>
        </p:spPr>
      </p:sp>
      <p:sp>
        <p:nvSpPr>
          <p:cNvPr id="14" name="Phase badge 3"/>
          <p:cNvSpPr/>
          <p:nvPr/>
        </p:nvSpPr>
        <p:spPr>
          <a:xfrm>
            <a:off x="777240" y="3200400"/>
            <a:ext cx="1234440" cy="329184"/>
          </a:xfrm>
          <a:prstGeom prst="roundRect">
            <a:avLst>
              <a:gd name="adj" fmla="val 50000"/>
            </a:avLst>
          </a:prstGeom>
          <a:solidFill>
            <a:schemeClr val="accent1"/>
          </a:solidFill>
          <a:ln/>
        </p:spPr>
      </p:sp>
      <p:sp>
        <p:nvSpPr>
          <p:cNvPr id="15" name="Phase days 3"/>
          <p:cNvSpPr txBox="1"/>
          <p:nvPr/>
        </p:nvSpPr>
        <p:spPr>
          <a:xfrm>
            <a:off x="777240" y="3200400"/>
            <a:ext cx="1234440" cy="329184"/>
          </a:xfrm>
          <a:prstGeom prst="rect">
            <a:avLst/>
          </a:prstGeom>
          <a:noFill/>
          <a:ln/>
        </p:spPr>
        <p:txBody>
          <a:bodyPr wrap="square" lIns="0" tIns="0" rIns="0" bIns="0" rtlCol="0" anchor="ctr"/>
          <a:lstStyle/>
          <a:p>
            <a:pPr algn="ctr" indent="0" marL="0">
              <a:buNone/>
            </a:pPr>
            <a:r>
              <a:rPr lang="en-US" sz="1400" b="1" dirty="0">
                <a:solidFill>
                  <a:schemeClr val="bg1"/>
                </a:solidFill>
              </a:rPr>
              <a:t>Days 10–18</a:t>
            </a:r>
            <a:endParaRPr lang="en-US" sz="1400" dirty="0"/>
          </a:p>
        </p:txBody>
      </p:sp>
      <p:sp>
        <p:nvSpPr>
          <p:cNvPr id="16" name="Phase name 3"/>
          <p:cNvSpPr txBox="1"/>
          <p:nvPr/>
        </p:nvSpPr>
        <p:spPr>
          <a:xfrm>
            <a:off x="2194560" y="3200400"/>
            <a:ext cx="2148840" cy="329184"/>
          </a:xfrm>
          <a:prstGeom prst="rect">
            <a:avLst/>
          </a:prstGeom>
          <a:noFill/>
          <a:ln/>
        </p:spPr>
        <p:txBody>
          <a:bodyPr wrap="square" lIns="0" tIns="0" rIns="0" bIns="0" rtlCol="0" anchor="ctr"/>
          <a:lstStyle/>
          <a:p>
            <a:pPr indent="0" marL="0">
              <a:buNone/>
            </a:pPr>
            <a:r>
              <a:rPr lang="en-US" sz="1600" b="1" dirty="0">
                <a:solidFill>
                  <a:schemeClr val="tx1"/>
                </a:solidFill>
              </a:rPr>
              <a:t>Development</a:t>
            </a:r>
            <a:endParaRPr lang="en-US" sz="1600" dirty="0"/>
          </a:p>
        </p:txBody>
      </p:sp>
      <p:sp>
        <p:nvSpPr>
          <p:cNvPr id="17" name="Phase detail 3"/>
          <p:cNvSpPr txBox="1"/>
          <p:nvPr/>
        </p:nvSpPr>
        <p:spPr>
          <a:xfrm>
            <a:off x="777240" y="3657600"/>
            <a:ext cx="3474720" cy="822960"/>
          </a:xfrm>
          <a:prstGeom prst="rect">
            <a:avLst/>
          </a:prstGeom>
          <a:noFill/>
          <a:ln/>
        </p:spPr>
        <p:txBody>
          <a:bodyPr wrap="square" lIns="0" tIns="0" rIns="0" bIns="0" rtlCol="0" anchor="t"/>
          <a:lstStyle/>
          <a:p>
            <a:pPr indent="0" marL="0">
              <a:buNone/>
            </a:pPr>
            <a:r>
              <a:rPr lang="en-US" sz="1400" dirty="0">
                <a:solidFill>
                  <a:schemeClr val="tx2"/>
                </a:solidFill>
              </a:rPr>
              <a:t>Registration and login, file upload, AES encryption and decryption, download, frontend and REST APIs</a:t>
            </a:r>
            <a:endParaRPr lang="en-US" sz="1400" dirty="0"/>
          </a:p>
        </p:txBody>
      </p:sp>
      <p:sp>
        <p:nvSpPr>
          <p:cNvPr id="18" name="Phase card 4"/>
          <p:cNvSpPr/>
          <p:nvPr/>
        </p:nvSpPr>
        <p:spPr>
          <a:xfrm>
            <a:off x="4663440" y="3017520"/>
            <a:ext cx="3931920" cy="1554480"/>
          </a:xfrm>
          <a:prstGeom prst="roundRect">
            <a:avLst>
              <a:gd name="adj" fmla="val 5882"/>
            </a:avLst>
          </a:prstGeom>
          <a:solidFill>
            <a:schemeClr val="bg2"/>
          </a:solidFill>
          <a:ln/>
        </p:spPr>
      </p:sp>
      <p:sp>
        <p:nvSpPr>
          <p:cNvPr id="19" name="Phase badge 4"/>
          <p:cNvSpPr/>
          <p:nvPr/>
        </p:nvSpPr>
        <p:spPr>
          <a:xfrm>
            <a:off x="4892040" y="3200400"/>
            <a:ext cx="1234440" cy="329184"/>
          </a:xfrm>
          <a:prstGeom prst="roundRect">
            <a:avLst>
              <a:gd name="adj" fmla="val 50000"/>
            </a:avLst>
          </a:prstGeom>
          <a:solidFill>
            <a:schemeClr val="accent1"/>
          </a:solidFill>
          <a:ln/>
        </p:spPr>
      </p:sp>
      <p:sp>
        <p:nvSpPr>
          <p:cNvPr id="20" name="Phase days 4"/>
          <p:cNvSpPr txBox="1"/>
          <p:nvPr/>
        </p:nvSpPr>
        <p:spPr>
          <a:xfrm>
            <a:off x="4892040" y="3200400"/>
            <a:ext cx="1234440" cy="329184"/>
          </a:xfrm>
          <a:prstGeom prst="rect">
            <a:avLst/>
          </a:prstGeom>
          <a:noFill/>
          <a:ln/>
        </p:spPr>
        <p:txBody>
          <a:bodyPr wrap="square" lIns="0" tIns="0" rIns="0" bIns="0" rtlCol="0" anchor="ctr"/>
          <a:lstStyle/>
          <a:p>
            <a:pPr algn="ctr" indent="0" marL="0">
              <a:buNone/>
            </a:pPr>
            <a:r>
              <a:rPr lang="en-US" sz="1400" b="1" dirty="0">
                <a:solidFill>
                  <a:schemeClr val="bg1"/>
                </a:solidFill>
              </a:rPr>
              <a:t>Days 19–30</a:t>
            </a:r>
            <a:endParaRPr lang="en-US" sz="1400" dirty="0"/>
          </a:p>
        </p:txBody>
      </p:sp>
      <p:sp>
        <p:nvSpPr>
          <p:cNvPr id="21" name="Phase name 4"/>
          <p:cNvSpPr txBox="1"/>
          <p:nvPr/>
        </p:nvSpPr>
        <p:spPr>
          <a:xfrm>
            <a:off x="6309360" y="3200400"/>
            <a:ext cx="2148840" cy="329184"/>
          </a:xfrm>
          <a:prstGeom prst="rect">
            <a:avLst/>
          </a:prstGeom>
          <a:noFill/>
          <a:ln/>
        </p:spPr>
        <p:txBody>
          <a:bodyPr wrap="square" lIns="0" tIns="0" rIns="0" bIns="0" rtlCol="0" anchor="ctr"/>
          <a:lstStyle/>
          <a:p>
            <a:pPr indent="0" marL="0">
              <a:buNone/>
            </a:pPr>
            <a:r>
              <a:rPr lang="en-US" sz="1600" b="1" dirty="0">
                <a:solidFill>
                  <a:schemeClr val="tx1"/>
                </a:solidFill>
              </a:rPr>
              <a:t>Testing and Wrap-up</a:t>
            </a:r>
            <a:endParaRPr lang="en-US" sz="1600" dirty="0"/>
          </a:p>
        </p:txBody>
      </p:sp>
      <p:sp>
        <p:nvSpPr>
          <p:cNvPr id="22" name="Phase detail 4"/>
          <p:cNvSpPr txBox="1"/>
          <p:nvPr/>
        </p:nvSpPr>
        <p:spPr>
          <a:xfrm>
            <a:off x="4892040" y="3657600"/>
            <a:ext cx="3474720" cy="822960"/>
          </a:xfrm>
          <a:prstGeom prst="rect">
            <a:avLst/>
          </a:prstGeom>
          <a:noFill/>
          <a:ln/>
        </p:spPr>
        <p:txBody>
          <a:bodyPr wrap="square" lIns="0" tIns="0" rIns="0" bIns="0" rtlCol="0" anchor="t"/>
          <a:lstStyle/>
          <a:p>
            <a:pPr indent="0" marL="0">
              <a:buNone/>
            </a:pPr>
            <a:r>
              <a:rPr lang="en-US" sz="1400" dirty="0">
                <a:solidFill>
                  <a:schemeClr val="tx2"/>
                </a:solidFill>
              </a:rPr>
              <a:t>Testing, security features, bug fixing, report writing and final demo to the mentor</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How the System Works</a:t>
            </a:r>
            <a:endParaRPr lang="en-US" sz="3200" dirty="0"/>
          </a:p>
        </p:txBody>
      </p:sp>
      <p:sp>
        <p:nvSpPr>
          <p:cNvPr id="3" name="Flow step 1"/>
          <p:cNvSpPr/>
          <p:nvPr/>
        </p:nvSpPr>
        <p:spPr>
          <a:xfrm>
            <a:off x="548640" y="1188720"/>
            <a:ext cx="1188720" cy="1600200"/>
          </a:xfrm>
          <a:prstGeom prst="roundRect">
            <a:avLst>
              <a:gd name="adj" fmla="val 7692"/>
            </a:avLst>
          </a:prstGeom>
          <a:solidFill>
            <a:schemeClr val="bg2"/>
          </a:solidFill>
          <a:ln/>
        </p:spPr>
      </p:sp>
      <p:sp>
        <p:nvSpPr>
          <p:cNvPr id="4" name="Flow icon 1 circle"/>
          <p:cNvSpPr/>
          <p:nvPr/>
        </p:nvSpPr>
        <p:spPr>
          <a:xfrm>
            <a:off x="891540" y="1325880"/>
            <a:ext cx="502920" cy="502920"/>
          </a:xfrm>
          <a:prstGeom prst="ellipse">
            <a:avLst/>
          </a:prstGeom>
          <a:solidFill>
            <a:schemeClr val="accent1"/>
          </a:solidFill>
          <a:ln/>
        </p:spPr>
      </p:sp>
      <p:pic>
        <p:nvPicPr>
          <p:cNvPr id="5" name="Flow icon 1 image" descr="preencoded.png">    </p:cNvPr>
          <p:cNvPicPr>
            <a:picLocks noChangeAspect="1"/>
          </p:cNvPicPr>
          <p:nvPr/>
        </p:nvPicPr>
        <p:blipFill>
          <a:blip r:embed="rId1"/>
          <a:stretch>
            <a:fillRect/>
          </a:stretch>
        </p:blipFill>
        <p:spPr>
          <a:xfrm>
            <a:off x="1027328" y="1461668"/>
            <a:ext cx="231343" cy="231343"/>
          </a:xfrm>
          <a:prstGeom prst="rect">
            <a:avLst/>
          </a:prstGeom>
        </p:spPr>
      </p:pic>
      <p:sp>
        <p:nvSpPr>
          <p:cNvPr id="6" name="Flow label 1"/>
          <p:cNvSpPr txBox="1"/>
          <p:nvPr/>
        </p:nvSpPr>
        <p:spPr>
          <a:xfrm>
            <a:off x="640080" y="192024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Register and login</a:t>
            </a:r>
            <a:endParaRPr lang="en-US" sz="1400" dirty="0"/>
          </a:p>
        </p:txBody>
      </p:sp>
      <p:sp>
        <p:nvSpPr>
          <p:cNvPr id="7" name="Flow arrow 1"/>
          <p:cNvSpPr/>
          <p:nvPr/>
        </p:nvSpPr>
        <p:spPr>
          <a:xfrm>
            <a:off x="1755648" y="1874520"/>
            <a:ext cx="146304" cy="182880"/>
          </a:xfrm>
          <a:prstGeom prst="rightArrow">
            <a:avLst/>
          </a:prstGeom>
          <a:solidFill>
            <a:schemeClr val="accent4"/>
          </a:solidFill>
          <a:ln/>
        </p:spPr>
      </p:sp>
      <p:sp>
        <p:nvSpPr>
          <p:cNvPr id="8" name="Flow step 2"/>
          <p:cNvSpPr/>
          <p:nvPr/>
        </p:nvSpPr>
        <p:spPr>
          <a:xfrm>
            <a:off x="1920240" y="1188720"/>
            <a:ext cx="1188720" cy="1600200"/>
          </a:xfrm>
          <a:prstGeom prst="roundRect">
            <a:avLst>
              <a:gd name="adj" fmla="val 7692"/>
            </a:avLst>
          </a:prstGeom>
          <a:solidFill>
            <a:schemeClr val="bg2"/>
          </a:solidFill>
          <a:ln/>
        </p:spPr>
      </p:sp>
      <p:sp>
        <p:nvSpPr>
          <p:cNvPr id="9" name="Flow icon 2 circle"/>
          <p:cNvSpPr/>
          <p:nvPr/>
        </p:nvSpPr>
        <p:spPr>
          <a:xfrm>
            <a:off x="2263140" y="1325880"/>
            <a:ext cx="502920" cy="502920"/>
          </a:xfrm>
          <a:prstGeom prst="ellipse">
            <a:avLst/>
          </a:prstGeom>
          <a:solidFill>
            <a:schemeClr val="accent1"/>
          </a:solidFill>
          <a:ln/>
        </p:spPr>
      </p:sp>
      <p:pic>
        <p:nvPicPr>
          <p:cNvPr id="10" name="Flow icon 2 image" descr="preencoded.png">    </p:cNvPr>
          <p:cNvPicPr>
            <a:picLocks noChangeAspect="1"/>
          </p:cNvPicPr>
          <p:nvPr/>
        </p:nvPicPr>
        <p:blipFill>
          <a:blip r:embed="rId2"/>
          <a:stretch>
            <a:fillRect/>
          </a:stretch>
        </p:blipFill>
        <p:spPr>
          <a:xfrm>
            <a:off x="2398928" y="1461668"/>
            <a:ext cx="231343" cy="231343"/>
          </a:xfrm>
          <a:prstGeom prst="rect">
            <a:avLst/>
          </a:prstGeom>
        </p:spPr>
      </p:pic>
      <p:sp>
        <p:nvSpPr>
          <p:cNvPr id="11" name="Flow label 2"/>
          <p:cNvSpPr txBox="1"/>
          <p:nvPr/>
        </p:nvSpPr>
        <p:spPr>
          <a:xfrm>
            <a:off x="2011680" y="192024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Upload file</a:t>
            </a:r>
            <a:endParaRPr lang="en-US" sz="1400" dirty="0"/>
          </a:p>
        </p:txBody>
      </p:sp>
      <p:sp>
        <p:nvSpPr>
          <p:cNvPr id="12" name="Flow arrow 2"/>
          <p:cNvSpPr/>
          <p:nvPr/>
        </p:nvSpPr>
        <p:spPr>
          <a:xfrm>
            <a:off x="3127248" y="1874520"/>
            <a:ext cx="146304" cy="182880"/>
          </a:xfrm>
          <a:prstGeom prst="rightArrow">
            <a:avLst/>
          </a:prstGeom>
          <a:solidFill>
            <a:schemeClr val="accent4"/>
          </a:solidFill>
          <a:ln/>
        </p:spPr>
      </p:sp>
      <p:sp>
        <p:nvSpPr>
          <p:cNvPr id="13" name="Flow step 3"/>
          <p:cNvSpPr/>
          <p:nvPr/>
        </p:nvSpPr>
        <p:spPr>
          <a:xfrm>
            <a:off x="3291840" y="1188720"/>
            <a:ext cx="1188720" cy="1600200"/>
          </a:xfrm>
          <a:prstGeom prst="roundRect">
            <a:avLst>
              <a:gd name="adj" fmla="val 7692"/>
            </a:avLst>
          </a:prstGeom>
          <a:solidFill>
            <a:schemeClr val="bg2"/>
          </a:solidFill>
          <a:ln/>
        </p:spPr>
      </p:sp>
      <p:sp>
        <p:nvSpPr>
          <p:cNvPr id="14" name="Flow icon 3 circle"/>
          <p:cNvSpPr/>
          <p:nvPr/>
        </p:nvSpPr>
        <p:spPr>
          <a:xfrm>
            <a:off x="3634740" y="1325880"/>
            <a:ext cx="502920" cy="502920"/>
          </a:xfrm>
          <a:prstGeom prst="ellipse">
            <a:avLst/>
          </a:prstGeom>
          <a:solidFill>
            <a:schemeClr val="accent1"/>
          </a:solidFill>
          <a:ln/>
        </p:spPr>
      </p:sp>
      <p:pic>
        <p:nvPicPr>
          <p:cNvPr id="15" name="Flow icon 3 image" descr="preencoded.png">    </p:cNvPr>
          <p:cNvPicPr>
            <a:picLocks noChangeAspect="1"/>
          </p:cNvPicPr>
          <p:nvPr/>
        </p:nvPicPr>
        <p:blipFill>
          <a:blip r:embed="rId3"/>
          <a:stretch>
            <a:fillRect/>
          </a:stretch>
        </p:blipFill>
        <p:spPr>
          <a:xfrm>
            <a:off x="3770528" y="1461668"/>
            <a:ext cx="231343" cy="231343"/>
          </a:xfrm>
          <a:prstGeom prst="rect">
            <a:avLst/>
          </a:prstGeom>
        </p:spPr>
      </p:pic>
      <p:sp>
        <p:nvSpPr>
          <p:cNvPr id="16" name="Flow label 3"/>
          <p:cNvSpPr txBox="1"/>
          <p:nvPr/>
        </p:nvSpPr>
        <p:spPr>
          <a:xfrm>
            <a:off x="3383280" y="192024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Enter secret AES key</a:t>
            </a:r>
            <a:endParaRPr lang="en-US" sz="1400" dirty="0"/>
          </a:p>
        </p:txBody>
      </p:sp>
      <p:sp>
        <p:nvSpPr>
          <p:cNvPr id="17" name="Flow arrow 3"/>
          <p:cNvSpPr/>
          <p:nvPr/>
        </p:nvSpPr>
        <p:spPr>
          <a:xfrm>
            <a:off x="4498848" y="1874520"/>
            <a:ext cx="146304" cy="182880"/>
          </a:xfrm>
          <a:prstGeom prst="rightArrow">
            <a:avLst/>
          </a:prstGeom>
          <a:solidFill>
            <a:schemeClr val="accent4"/>
          </a:solidFill>
          <a:ln/>
        </p:spPr>
      </p:sp>
      <p:sp>
        <p:nvSpPr>
          <p:cNvPr id="18" name="Flow step 4"/>
          <p:cNvSpPr/>
          <p:nvPr/>
        </p:nvSpPr>
        <p:spPr>
          <a:xfrm>
            <a:off x="4663440" y="1188720"/>
            <a:ext cx="1188720" cy="1600200"/>
          </a:xfrm>
          <a:prstGeom prst="roundRect">
            <a:avLst>
              <a:gd name="adj" fmla="val 7692"/>
            </a:avLst>
          </a:prstGeom>
          <a:solidFill>
            <a:schemeClr val="bg2"/>
          </a:solidFill>
          <a:ln/>
        </p:spPr>
      </p:sp>
      <p:sp>
        <p:nvSpPr>
          <p:cNvPr id="19" name="Flow icon 4 circle"/>
          <p:cNvSpPr/>
          <p:nvPr/>
        </p:nvSpPr>
        <p:spPr>
          <a:xfrm>
            <a:off x="5006340" y="1325880"/>
            <a:ext cx="502920" cy="502920"/>
          </a:xfrm>
          <a:prstGeom prst="ellipse">
            <a:avLst/>
          </a:prstGeom>
          <a:solidFill>
            <a:schemeClr val="accent1"/>
          </a:solidFill>
          <a:ln/>
        </p:spPr>
      </p:sp>
      <p:pic>
        <p:nvPicPr>
          <p:cNvPr id="20" name="Flow icon 4 image" descr="preencoded.png">    </p:cNvPr>
          <p:cNvPicPr>
            <a:picLocks noChangeAspect="1"/>
          </p:cNvPicPr>
          <p:nvPr/>
        </p:nvPicPr>
        <p:blipFill>
          <a:blip r:embed="rId4"/>
          <a:stretch>
            <a:fillRect/>
          </a:stretch>
        </p:blipFill>
        <p:spPr>
          <a:xfrm>
            <a:off x="5142128" y="1461668"/>
            <a:ext cx="231343" cy="231343"/>
          </a:xfrm>
          <a:prstGeom prst="rect">
            <a:avLst/>
          </a:prstGeom>
        </p:spPr>
      </p:pic>
      <p:sp>
        <p:nvSpPr>
          <p:cNvPr id="21" name="Flow label 4"/>
          <p:cNvSpPr txBox="1"/>
          <p:nvPr/>
        </p:nvSpPr>
        <p:spPr>
          <a:xfrm>
            <a:off x="4754880" y="192024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Encrypt and store</a:t>
            </a:r>
            <a:endParaRPr lang="en-US" sz="1400" dirty="0"/>
          </a:p>
        </p:txBody>
      </p:sp>
      <p:sp>
        <p:nvSpPr>
          <p:cNvPr id="22" name="Flow arrow 4"/>
          <p:cNvSpPr/>
          <p:nvPr/>
        </p:nvSpPr>
        <p:spPr>
          <a:xfrm>
            <a:off x="5870448" y="1874520"/>
            <a:ext cx="146304" cy="182880"/>
          </a:xfrm>
          <a:prstGeom prst="rightArrow">
            <a:avLst/>
          </a:prstGeom>
          <a:solidFill>
            <a:schemeClr val="accent4"/>
          </a:solidFill>
          <a:ln/>
        </p:spPr>
      </p:sp>
      <p:sp>
        <p:nvSpPr>
          <p:cNvPr id="23" name="Flow step 5"/>
          <p:cNvSpPr/>
          <p:nvPr/>
        </p:nvSpPr>
        <p:spPr>
          <a:xfrm>
            <a:off x="6035040" y="1188720"/>
            <a:ext cx="1188720" cy="1600200"/>
          </a:xfrm>
          <a:prstGeom prst="roundRect">
            <a:avLst>
              <a:gd name="adj" fmla="val 7692"/>
            </a:avLst>
          </a:prstGeom>
          <a:solidFill>
            <a:schemeClr val="bg2"/>
          </a:solidFill>
          <a:ln/>
        </p:spPr>
      </p:sp>
      <p:sp>
        <p:nvSpPr>
          <p:cNvPr id="24" name="Flow icon 5 circle"/>
          <p:cNvSpPr/>
          <p:nvPr/>
        </p:nvSpPr>
        <p:spPr>
          <a:xfrm>
            <a:off x="6377940" y="1325880"/>
            <a:ext cx="502920" cy="502920"/>
          </a:xfrm>
          <a:prstGeom prst="ellipse">
            <a:avLst/>
          </a:prstGeom>
          <a:solidFill>
            <a:schemeClr val="accent1"/>
          </a:solidFill>
          <a:ln/>
        </p:spPr>
      </p:sp>
      <p:pic>
        <p:nvPicPr>
          <p:cNvPr id="25" name="Flow icon 5 image" descr="preencoded.png">    </p:cNvPr>
          <p:cNvPicPr>
            <a:picLocks noChangeAspect="1"/>
          </p:cNvPicPr>
          <p:nvPr/>
        </p:nvPicPr>
        <p:blipFill>
          <a:blip r:embed="rId5"/>
          <a:stretch>
            <a:fillRect/>
          </a:stretch>
        </p:blipFill>
        <p:spPr>
          <a:xfrm>
            <a:off x="6513728" y="1461668"/>
            <a:ext cx="231343" cy="231343"/>
          </a:xfrm>
          <a:prstGeom prst="rect">
            <a:avLst/>
          </a:prstGeom>
        </p:spPr>
      </p:pic>
      <p:sp>
        <p:nvSpPr>
          <p:cNvPr id="26" name="Flow label 5"/>
          <p:cNvSpPr txBox="1"/>
          <p:nvPr/>
        </p:nvSpPr>
        <p:spPr>
          <a:xfrm>
            <a:off x="6126480" y="192024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Decrypt with correct key</a:t>
            </a:r>
            <a:endParaRPr lang="en-US" sz="1400" dirty="0"/>
          </a:p>
        </p:txBody>
      </p:sp>
      <p:sp>
        <p:nvSpPr>
          <p:cNvPr id="27" name="Flow arrow 5"/>
          <p:cNvSpPr/>
          <p:nvPr/>
        </p:nvSpPr>
        <p:spPr>
          <a:xfrm>
            <a:off x="7242048" y="1874520"/>
            <a:ext cx="146304" cy="182880"/>
          </a:xfrm>
          <a:prstGeom prst="rightArrow">
            <a:avLst/>
          </a:prstGeom>
          <a:solidFill>
            <a:schemeClr val="accent4"/>
          </a:solidFill>
          <a:ln/>
        </p:spPr>
      </p:sp>
      <p:sp>
        <p:nvSpPr>
          <p:cNvPr id="28" name="Flow step 6"/>
          <p:cNvSpPr/>
          <p:nvPr/>
        </p:nvSpPr>
        <p:spPr>
          <a:xfrm>
            <a:off x="7406640" y="1188720"/>
            <a:ext cx="1188720" cy="1600200"/>
          </a:xfrm>
          <a:prstGeom prst="roundRect">
            <a:avLst>
              <a:gd name="adj" fmla="val 7692"/>
            </a:avLst>
          </a:prstGeom>
          <a:solidFill>
            <a:schemeClr val="bg2"/>
          </a:solidFill>
          <a:ln/>
        </p:spPr>
      </p:sp>
      <p:sp>
        <p:nvSpPr>
          <p:cNvPr id="29" name="Flow icon 6 circle"/>
          <p:cNvSpPr/>
          <p:nvPr/>
        </p:nvSpPr>
        <p:spPr>
          <a:xfrm>
            <a:off x="7749540" y="1325880"/>
            <a:ext cx="502920" cy="502920"/>
          </a:xfrm>
          <a:prstGeom prst="ellipse">
            <a:avLst/>
          </a:prstGeom>
          <a:solidFill>
            <a:schemeClr val="accent1"/>
          </a:solidFill>
          <a:ln/>
        </p:spPr>
      </p:sp>
      <p:pic>
        <p:nvPicPr>
          <p:cNvPr id="30" name="Flow icon 6 image" descr="preencoded.png">    </p:cNvPr>
          <p:cNvPicPr>
            <a:picLocks noChangeAspect="1"/>
          </p:cNvPicPr>
          <p:nvPr/>
        </p:nvPicPr>
        <p:blipFill>
          <a:blip r:embed="rId6"/>
          <a:stretch>
            <a:fillRect/>
          </a:stretch>
        </p:blipFill>
        <p:spPr>
          <a:xfrm>
            <a:off x="7885328" y="1461668"/>
            <a:ext cx="231343" cy="231343"/>
          </a:xfrm>
          <a:prstGeom prst="rect">
            <a:avLst/>
          </a:prstGeom>
        </p:spPr>
      </p:pic>
      <p:sp>
        <p:nvSpPr>
          <p:cNvPr id="31" name="Flow label 6"/>
          <p:cNvSpPr txBox="1"/>
          <p:nvPr/>
        </p:nvSpPr>
        <p:spPr>
          <a:xfrm>
            <a:off x="7498080" y="1920240"/>
            <a:ext cx="1005840" cy="777240"/>
          </a:xfrm>
          <a:prstGeom prst="rect">
            <a:avLst/>
          </a:prstGeom>
          <a:noFill/>
          <a:ln/>
        </p:spPr>
        <p:txBody>
          <a:bodyPr wrap="square" lIns="0" tIns="0" rIns="0" bIns="0" rtlCol="0" anchor="t"/>
          <a:lstStyle/>
          <a:p>
            <a:pPr algn="ctr" indent="0" marL="0">
              <a:buNone/>
            </a:pPr>
            <a:r>
              <a:rPr lang="en-US" sz="1400" b="1" dirty="0">
                <a:solidFill>
                  <a:schemeClr val="tx1"/>
                </a:solidFill>
              </a:rPr>
              <a:t>Download original file</a:t>
            </a:r>
            <a:endParaRPr lang="en-US" sz="1400" dirty="0"/>
          </a:p>
        </p:txBody>
      </p:sp>
      <p:sp>
        <p:nvSpPr>
          <p:cNvPr id="32" name="Text 24"/>
          <p:cNvSpPr txBox="1"/>
          <p:nvPr/>
        </p:nvSpPr>
        <p:spPr>
          <a:xfrm>
            <a:off x="548640" y="2971800"/>
            <a:ext cx="3657600" cy="320040"/>
          </a:xfrm>
          <a:prstGeom prst="rect">
            <a:avLst/>
          </a:prstGeom>
          <a:noFill/>
          <a:ln/>
        </p:spPr>
        <p:txBody>
          <a:bodyPr wrap="square" lIns="0" tIns="0" rIns="0" bIns="0" rtlCol="0" anchor="ctr"/>
          <a:lstStyle/>
          <a:p>
            <a:pPr indent="0" marL="0">
              <a:buNone/>
            </a:pPr>
            <a:r>
              <a:rPr lang="en-US" sz="1800" b="1" dirty="0">
                <a:solidFill>
                  <a:schemeClr val="tx1"/>
                </a:solidFill>
              </a:rPr>
              <a:t>Key features</a:t>
            </a:r>
            <a:endParaRPr lang="en-US" sz="1800" dirty="0"/>
          </a:p>
        </p:txBody>
      </p:sp>
      <p:sp>
        <p:nvSpPr>
          <p:cNvPr id="33" name="Feature card 1"/>
          <p:cNvSpPr/>
          <p:nvPr/>
        </p:nvSpPr>
        <p:spPr>
          <a:xfrm>
            <a:off x="548640" y="3383280"/>
            <a:ext cx="2496312" cy="1234440"/>
          </a:xfrm>
          <a:prstGeom prst="roundRect">
            <a:avLst>
              <a:gd name="adj" fmla="val 7407"/>
            </a:avLst>
          </a:prstGeom>
          <a:solidFill>
            <a:schemeClr val="bg2"/>
          </a:solidFill>
          <a:ln/>
        </p:spPr>
      </p:sp>
      <p:sp>
        <p:nvSpPr>
          <p:cNvPr id="34" name="Feature icon 1 circle"/>
          <p:cNvSpPr/>
          <p:nvPr/>
        </p:nvSpPr>
        <p:spPr>
          <a:xfrm>
            <a:off x="731520" y="3749040"/>
            <a:ext cx="502920" cy="502920"/>
          </a:xfrm>
          <a:prstGeom prst="ellipse">
            <a:avLst/>
          </a:prstGeom>
          <a:solidFill>
            <a:schemeClr val="accent1"/>
          </a:solidFill>
          <a:ln/>
        </p:spPr>
      </p:sp>
      <p:pic>
        <p:nvPicPr>
          <p:cNvPr id="35" name="Feature icon 1 image" descr="preencoded.png">    </p:cNvPr>
          <p:cNvPicPr>
            <a:picLocks noChangeAspect="1"/>
          </p:cNvPicPr>
          <p:nvPr/>
        </p:nvPicPr>
        <p:blipFill>
          <a:blip r:embed="rId7"/>
          <a:stretch>
            <a:fillRect/>
          </a:stretch>
        </p:blipFill>
        <p:spPr>
          <a:xfrm>
            <a:off x="867308" y="3884828"/>
            <a:ext cx="231343" cy="231343"/>
          </a:xfrm>
          <a:prstGeom prst="rect">
            <a:avLst/>
          </a:prstGeom>
        </p:spPr>
      </p:pic>
      <p:sp>
        <p:nvSpPr>
          <p:cNvPr id="36" name="Feature text 1"/>
          <p:cNvSpPr txBox="1"/>
          <p:nvPr/>
        </p:nvSpPr>
        <p:spPr>
          <a:xfrm>
            <a:off x="1371600" y="3474720"/>
            <a:ext cx="1554480" cy="1051560"/>
          </a:xfrm>
          <a:prstGeom prst="rect">
            <a:avLst/>
          </a:prstGeom>
          <a:noFill/>
          <a:ln/>
        </p:spPr>
        <p:txBody>
          <a:bodyPr wrap="square" lIns="0" tIns="0" rIns="0" bIns="0" rtlCol="0" anchor="ctr"/>
          <a:lstStyle/>
          <a:p>
            <a:pPr indent="0" marL="0">
              <a:buNone/>
            </a:pPr>
            <a:r>
              <a:rPr lang="en-US" sz="1400" dirty="0">
                <a:solidFill>
                  <a:schemeClr val="tx1"/>
                </a:solidFill>
              </a:rPr>
              <a:t>Only encrypted files are stored</a:t>
            </a:r>
            <a:endParaRPr lang="en-US" sz="1400" dirty="0"/>
          </a:p>
        </p:txBody>
      </p:sp>
      <p:sp>
        <p:nvSpPr>
          <p:cNvPr id="37" name="Feature card 2"/>
          <p:cNvSpPr/>
          <p:nvPr/>
        </p:nvSpPr>
        <p:spPr>
          <a:xfrm>
            <a:off x="3319272" y="3383280"/>
            <a:ext cx="2496312" cy="1234440"/>
          </a:xfrm>
          <a:prstGeom prst="roundRect">
            <a:avLst>
              <a:gd name="adj" fmla="val 7407"/>
            </a:avLst>
          </a:prstGeom>
          <a:solidFill>
            <a:schemeClr val="bg2"/>
          </a:solidFill>
          <a:ln/>
        </p:spPr>
      </p:sp>
      <p:sp>
        <p:nvSpPr>
          <p:cNvPr id="38" name="Feature icon 2 circle"/>
          <p:cNvSpPr/>
          <p:nvPr/>
        </p:nvSpPr>
        <p:spPr>
          <a:xfrm>
            <a:off x="3502152" y="3749040"/>
            <a:ext cx="502920" cy="502920"/>
          </a:xfrm>
          <a:prstGeom prst="ellipse">
            <a:avLst/>
          </a:prstGeom>
          <a:solidFill>
            <a:schemeClr val="accent1"/>
          </a:solidFill>
          <a:ln/>
        </p:spPr>
      </p:sp>
      <p:pic>
        <p:nvPicPr>
          <p:cNvPr id="39" name="Feature icon 2 image" descr="preencoded.png">    </p:cNvPr>
          <p:cNvPicPr>
            <a:picLocks noChangeAspect="1"/>
          </p:cNvPicPr>
          <p:nvPr/>
        </p:nvPicPr>
        <p:blipFill>
          <a:blip r:embed="rId8"/>
          <a:stretch>
            <a:fillRect/>
          </a:stretch>
        </p:blipFill>
        <p:spPr>
          <a:xfrm>
            <a:off x="3637940" y="3884828"/>
            <a:ext cx="231343" cy="231343"/>
          </a:xfrm>
          <a:prstGeom prst="rect">
            <a:avLst/>
          </a:prstGeom>
        </p:spPr>
      </p:pic>
      <p:sp>
        <p:nvSpPr>
          <p:cNvPr id="40" name="Feature text 2"/>
          <p:cNvSpPr txBox="1"/>
          <p:nvPr/>
        </p:nvSpPr>
        <p:spPr>
          <a:xfrm>
            <a:off x="4142232" y="3474720"/>
            <a:ext cx="1554480" cy="1051560"/>
          </a:xfrm>
          <a:prstGeom prst="rect">
            <a:avLst/>
          </a:prstGeom>
          <a:noFill/>
          <a:ln/>
        </p:spPr>
        <p:txBody>
          <a:bodyPr wrap="square" lIns="0" tIns="0" rIns="0" bIns="0" rtlCol="0" anchor="ctr"/>
          <a:lstStyle/>
          <a:p>
            <a:pPr indent="0" marL="0">
              <a:buNone/>
            </a:pPr>
            <a:r>
              <a:rPr lang="en-US" sz="1400" dirty="0">
                <a:solidFill>
                  <a:schemeClr val="tx1"/>
                </a:solidFill>
              </a:rPr>
              <a:t>Wrong key means no access to the file</a:t>
            </a:r>
            <a:endParaRPr lang="en-US" sz="1400" dirty="0"/>
          </a:p>
        </p:txBody>
      </p:sp>
      <p:sp>
        <p:nvSpPr>
          <p:cNvPr id="41" name="Feature card 3"/>
          <p:cNvSpPr/>
          <p:nvPr/>
        </p:nvSpPr>
        <p:spPr>
          <a:xfrm>
            <a:off x="6089904" y="3383280"/>
            <a:ext cx="2496312" cy="1234440"/>
          </a:xfrm>
          <a:prstGeom prst="roundRect">
            <a:avLst>
              <a:gd name="adj" fmla="val 7407"/>
            </a:avLst>
          </a:prstGeom>
          <a:solidFill>
            <a:schemeClr val="bg2"/>
          </a:solidFill>
          <a:ln/>
        </p:spPr>
      </p:sp>
      <p:sp>
        <p:nvSpPr>
          <p:cNvPr id="42" name="Feature icon 3 circle"/>
          <p:cNvSpPr/>
          <p:nvPr/>
        </p:nvSpPr>
        <p:spPr>
          <a:xfrm>
            <a:off x="6272784" y="3749040"/>
            <a:ext cx="502920" cy="502920"/>
          </a:xfrm>
          <a:prstGeom prst="ellipse">
            <a:avLst/>
          </a:prstGeom>
          <a:solidFill>
            <a:schemeClr val="accent1"/>
          </a:solidFill>
          <a:ln/>
        </p:spPr>
      </p:sp>
      <p:pic>
        <p:nvPicPr>
          <p:cNvPr id="43" name="Feature icon 3 image" descr="preencoded.png">    </p:cNvPr>
          <p:cNvPicPr>
            <a:picLocks noChangeAspect="1"/>
          </p:cNvPicPr>
          <p:nvPr/>
        </p:nvPicPr>
        <p:blipFill>
          <a:blip r:embed="rId9"/>
          <a:stretch>
            <a:fillRect/>
          </a:stretch>
        </p:blipFill>
        <p:spPr>
          <a:xfrm>
            <a:off x="6408572" y="3884828"/>
            <a:ext cx="231343" cy="231343"/>
          </a:xfrm>
          <a:prstGeom prst="rect">
            <a:avLst/>
          </a:prstGeom>
        </p:spPr>
      </p:pic>
      <p:sp>
        <p:nvSpPr>
          <p:cNvPr id="44" name="Feature text 3"/>
          <p:cNvSpPr txBox="1"/>
          <p:nvPr/>
        </p:nvSpPr>
        <p:spPr>
          <a:xfrm>
            <a:off x="6912864" y="3474720"/>
            <a:ext cx="1554480" cy="1051560"/>
          </a:xfrm>
          <a:prstGeom prst="rect">
            <a:avLst/>
          </a:prstGeom>
          <a:noFill/>
          <a:ln/>
        </p:spPr>
        <p:txBody>
          <a:bodyPr wrap="square" lIns="0" tIns="0" rIns="0" bIns="0" rtlCol="0" anchor="ctr"/>
          <a:lstStyle/>
          <a:p>
            <a:pPr indent="0" marL="0">
              <a:buNone/>
            </a:pPr>
            <a:r>
              <a:rPr lang="en-US" sz="1400" dirty="0">
                <a:solidFill>
                  <a:schemeClr val="tx1"/>
                </a:solidFill>
              </a:rPr>
              <a:t>Upload, encrypt and decrypt activity is recorded</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Tools and Technologies Used</a:t>
            </a:r>
            <a:endParaRPr lang="en-US" sz="3200" dirty="0"/>
          </a:p>
        </p:txBody>
      </p:sp>
      <p:sp>
        <p:nvSpPr>
          <p:cNvPr id="3" name="Tool card 1"/>
          <p:cNvSpPr/>
          <p:nvPr/>
        </p:nvSpPr>
        <p:spPr>
          <a:xfrm>
            <a:off x="548640" y="1188720"/>
            <a:ext cx="2496312" cy="1600200"/>
          </a:xfrm>
          <a:prstGeom prst="roundRect">
            <a:avLst>
              <a:gd name="adj" fmla="val 5714"/>
            </a:avLst>
          </a:prstGeom>
          <a:solidFill>
            <a:schemeClr val="bg2"/>
          </a:solidFill>
          <a:ln/>
        </p:spPr>
      </p:sp>
      <p:sp>
        <p:nvSpPr>
          <p:cNvPr id="4" name="Tool icon 1 circle"/>
          <p:cNvSpPr/>
          <p:nvPr/>
        </p:nvSpPr>
        <p:spPr>
          <a:xfrm>
            <a:off x="731520" y="1371600"/>
            <a:ext cx="502920" cy="502920"/>
          </a:xfrm>
          <a:prstGeom prst="ellipse">
            <a:avLst/>
          </a:prstGeom>
          <a:solidFill>
            <a:schemeClr val="accent1"/>
          </a:solidFill>
          <a:ln/>
        </p:spPr>
      </p:sp>
      <p:pic>
        <p:nvPicPr>
          <p:cNvPr id="5" name="Tool icon 1 image" descr="preencoded.png">    </p:cNvPr>
          <p:cNvPicPr>
            <a:picLocks noChangeAspect="1"/>
          </p:cNvPicPr>
          <p:nvPr/>
        </p:nvPicPr>
        <p:blipFill>
          <a:blip r:embed="rId1"/>
          <a:stretch>
            <a:fillRect/>
          </a:stretch>
        </p:blipFill>
        <p:spPr>
          <a:xfrm>
            <a:off x="867308" y="1507388"/>
            <a:ext cx="231343" cy="231343"/>
          </a:xfrm>
          <a:prstGeom prst="rect">
            <a:avLst/>
          </a:prstGeom>
        </p:spPr>
      </p:pic>
      <p:sp>
        <p:nvSpPr>
          <p:cNvPr id="6" name="Tool name 1"/>
          <p:cNvSpPr txBox="1"/>
          <p:nvPr/>
        </p:nvSpPr>
        <p:spPr>
          <a:xfrm>
            <a:off x="1371600" y="137160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Backend</a:t>
            </a:r>
            <a:endParaRPr lang="en-US" sz="1800" dirty="0"/>
          </a:p>
        </p:txBody>
      </p:sp>
      <p:sp>
        <p:nvSpPr>
          <p:cNvPr id="7" name="Tool items 1"/>
          <p:cNvSpPr txBox="1"/>
          <p:nvPr/>
        </p:nvSpPr>
        <p:spPr>
          <a:xfrm>
            <a:off x="731520" y="2011680"/>
            <a:ext cx="2148840" cy="685800"/>
          </a:xfrm>
          <a:prstGeom prst="rect">
            <a:avLst/>
          </a:prstGeom>
          <a:noFill/>
          <a:ln/>
        </p:spPr>
        <p:txBody>
          <a:bodyPr wrap="square" lIns="0" tIns="0" rIns="0" bIns="0" rtlCol="0" anchor="t"/>
          <a:lstStyle/>
          <a:p>
            <a:pPr indent="0" marL="0">
              <a:buNone/>
            </a:pPr>
            <a:r>
              <a:rPr lang="en-US" sz="1400" dirty="0">
                <a:solidFill>
                  <a:schemeClr val="tx2"/>
                </a:solidFill>
              </a:rPr>
              <a:t>Java</a:t>
            </a:r>
            <a:endParaRPr lang="en-US" sz="1400" dirty="0"/>
          </a:p>
          <a:p>
            <a:pPr indent="0" marL="0">
              <a:buNone/>
            </a:pPr>
            <a:r>
              <a:rPr lang="en-US" sz="1400" dirty="0">
                <a:solidFill>
                  <a:schemeClr val="tx2"/>
                </a:solidFill>
              </a:rPr>
              <a:t>Spring Boot</a:t>
            </a:r>
            <a:endParaRPr lang="en-US" sz="1400" dirty="0"/>
          </a:p>
        </p:txBody>
      </p:sp>
      <p:sp>
        <p:nvSpPr>
          <p:cNvPr id="8" name="Tool card 2"/>
          <p:cNvSpPr/>
          <p:nvPr/>
        </p:nvSpPr>
        <p:spPr>
          <a:xfrm>
            <a:off x="3319272" y="1188720"/>
            <a:ext cx="2496312" cy="1600200"/>
          </a:xfrm>
          <a:prstGeom prst="roundRect">
            <a:avLst>
              <a:gd name="adj" fmla="val 5714"/>
            </a:avLst>
          </a:prstGeom>
          <a:solidFill>
            <a:schemeClr val="bg2"/>
          </a:solidFill>
          <a:ln/>
        </p:spPr>
      </p:sp>
      <p:sp>
        <p:nvSpPr>
          <p:cNvPr id="9" name="Tool icon 2 circle"/>
          <p:cNvSpPr/>
          <p:nvPr/>
        </p:nvSpPr>
        <p:spPr>
          <a:xfrm>
            <a:off x="3502152" y="1371600"/>
            <a:ext cx="502920" cy="502920"/>
          </a:xfrm>
          <a:prstGeom prst="ellipse">
            <a:avLst/>
          </a:prstGeom>
          <a:solidFill>
            <a:schemeClr val="accent1"/>
          </a:solidFill>
          <a:ln/>
        </p:spPr>
      </p:sp>
      <p:pic>
        <p:nvPicPr>
          <p:cNvPr id="10" name="Tool icon 2 image" descr="preencoded.png">    </p:cNvPr>
          <p:cNvPicPr>
            <a:picLocks noChangeAspect="1"/>
          </p:cNvPicPr>
          <p:nvPr/>
        </p:nvPicPr>
        <p:blipFill>
          <a:blip r:embed="rId2"/>
          <a:stretch>
            <a:fillRect/>
          </a:stretch>
        </p:blipFill>
        <p:spPr>
          <a:xfrm>
            <a:off x="3637940" y="1507388"/>
            <a:ext cx="231343" cy="231343"/>
          </a:xfrm>
          <a:prstGeom prst="rect">
            <a:avLst/>
          </a:prstGeom>
        </p:spPr>
      </p:pic>
      <p:sp>
        <p:nvSpPr>
          <p:cNvPr id="11" name="Tool name 2"/>
          <p:cNvSpPr txBox="1"/>
          <p:nvPr/>
        </p:nvSpPr>
        <p:spPr>
          <a:xfrm>
            <a:off x="4142232" y="137160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Database</a:t>
            </a:r>
            <a:endParaRPr lang="en-US" sz="1800" dirty="0"/>
          </a:p>
        </p:txBody>
      </p:sp>
      <p:sp>
        <p:nvSpPr>
          <p:cNvPr id="12" name="Tool items 2"/>
          <p:cNvSpPr txBox="1"/>
          <p:nvPr/>
        </p:nvSpPr>
        <p:spPr>
          <a:xfrm>
            <a:off x="3502152" y="2011680"/>
            <a:ext cx="2148840" cy="685800"/>
          </a:xfrm>
          <a:prstGeom prst="rect">
            <a:avLst/>
          </a:prstGeom>
          <a:noFill/>
          <a:ln/>
        </p:spPr>
        <p:txBody>
          <a:bodyPr wrap="square" lIns="0" tIns="0" rIns="0" bIns="0" rtlCol="0" anchor="t"/>
          <a:lstStyle/>
          <a:p>
            <a:pPr indent="0" marL="0">
              <a:buNone/>
            </a:pPr>
            <a:r>
              <a:rPr lang="en-US" sz="1400" dirty="0">
                <a:solidFill>
                  <a:schemeClr val="tx2"/>
                </a:solidFill>
              </a:rPr>
              <a:t>MySQL</a:t>
            </a:r>
            <a:endParaRPr lang="en-US" sz="1400" dirty="0"/>
          </a:p>
          <a:p>
            <a:pPr indent="0" marL="0">
              <a:buNone/>
            </a:pPr>
            <a:r>
              <a:rPr lang="en-US" sz="1400" dirty="0">
                <a:solidFill>
                  <a:schemeClr val="tx2"/>
                </a:solidFill>
              </a:rPr>
              <a:t>Hibernate / JPA</a:t>
            </a:r>
            <a:endParaRPr lang="en-US" sz="1400" dirty="0"/>
          </a:p>
        </p:txBody>
      </p:sp>
      <p:sp>
        <p:nvSpPr>
          <p:cNvPr id="13" name="Tool card 3"/>
          <p:cNvSpPr/>
          <p:nvPr/>
        </p:nvSpPr>
        <p:spPr>
          <a:xfrm>
            <a:off x="6089904" y="1188720"/>
            <a:ext cx="2496312" cy="1600200"/>
          </a:xfrm>
          <a:prstGeom prst="roundRect">
            <a:avLst>
              <a:gd name="adj" fmla="val 5714"/>
            </a:avLst>
          </a:prstGeom>
          <a:solidFill>
            <a:schemeClr val="bg2"/>
          </a:solidFill>
          <a:ln/>
        </p:spPr>
      </p:sp>
      <p:sp>
        <p:nvSpPr>
          <p:cNvPr id="14" name="Tool icon 3 circle"/>
          <p:cNvSpPr/>
          <p:nvPr/>
        </p:nvSpPr>
        <p:spPr>
          <a:xfrm>
            <a:off x="6272784" y="1371600"/>
            <a:ext cx="502920" cy="502920"/>
          </a:xfrm>
          <a:prstGeom prst="ellipse">
            <a:avLst/>
          </a:prstGeom>
          <a:solidFill>
            <a:schemeClr val="accent1"/>
          </a:solidFill>
          <a:ln/>
        </p:spPr>
      </p:sp>
      <p:pic>
        <p:nvPicPr>
          <p:cNvPr id="15" name="Tool icon 3 image" descr="preencoded.png">    </p:cNvPr>
          <p:cNvPicPr>
            <a:picLocks noChangeAspect="1"/>
          </p:cNvPicPr>
          <p:nvPr/>
        </p:nvPicPr>
        <p:blipFill>
          <a:blip r:embed="rId3"/>
          <a:stretch>
            <a:fillRect/>
          </a:stretch>
        </p:blipFill>
        <p:spPr>
          <a:xfrm>
            <a:off x="6408572" y="1507388"/>
            <a:ext cx="231343" cy="231343"/>
          </a:xfrm>
          <a:prstGeom prst="rect">
            <a:avLst/>
          </a:prstGeom>
        </p:spPr>
      </p:pic>
      <p:sp>
        <p:nvSpPr>
          <p:cNvPr id="16" name="Tool name 3"/>
          <p:cNvSpPr txBox="1"/>
          <p:nvPr/>
        </p:nvSpPr>
        <p:spPr>
          <a:xfrm>
            <a:off x="6912864" y="137160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Frontend</a:t>
            </a:r>
            <a:endParaRPr lang="en-US" sz="1800" dirty="0"/>
          </a:p>
        </p:txBody>
      </p:sp>
      <p:sp>
        <p:nvSpPr>
          <p:cNvPr id="17" name="Tool items 3"/>
          <p:cNvSpPr txBox="1"/>
          <p:nvPr/>
        </p:nvSpPr>
        <p:spPr>
          <a:xfrm>
            <a:off x="6272784" y="2011680"/>
            <a:ext cx="2148840" cy="685800"/>
          </a:xfrm>
          <a:prstGeom prst="rect">
            <a:avLst/>
          </a:prstGeom>
          <a:noFill/>
          <a:ln/>
        </p:spPr>
        <p:txBody>
          <a:bodyPr wrap="square" lIns="0" tIns="0" rIns="0" bIns="0" rtlCol="0" anchor="t"/>
          <a:lstStyle/>
          <a:p>
            <a:pPr indent="0" marL="0">
              <a:buNone/>
            </a:pPr>
            <a:r>
              <a:rPr lang="en-US" sz="1400" dirty="0">
                <a:solidFill>
                  <a:schemeClr val="tx2"/>
                </a:solidFill>
              </a:rPr>
              <a:t>HTML, CSS, JavaScript</a:t>
            </a:r>
            <a:endParaRPr lang="en-US" sz="1400" dirty="0"/>
          </a:p>
          <a:p>
            <a:pPr indent="0" marL="0">
              <a:buNone/>
            </a:pPr>
            <a:r>
              <a:rPr lang="en-US" sz="1400" dirty="0">
                <a:solidFill>
                  <a:schemeClr val="tx2"/>
                </a:solidFill>
              </a:rPr>
              <a:t>Bootstrap</a:t>
            </a:r>
            <a:endParaRPr lang="en-US" sz="1400" dirty="0"/>
          </a:p>
        </p:txBody>
      </p:sp>
      <p:sp>
        <p:nvSpPr>
          <p:cNvPr id="18" name="Tool card 4"/>
          <p:cNvSpPr/>
          <p:nvPr/>
        </p:nvSpPr>
        <p:spPr>
          <a:xfrm>
            <a:off x="548640" y="2971800"/>
            <a:ext cx="2496312" cy="1600200"/>
          </a:xfrm>
          <a:prstGeom prst="roundRect">
            <a:avLst>
              <a:gd name="adj" fmla="val 5714"/>
            </a:avLst>
          </a:prstGeom>
          <a:solidFill>
            <a:schemeClr val="bg2"/>
          </a:solidFill>
          <a:ln/>
        </p:spPr>
      </p:sp>
      <p:sp>
        <p:nvSpPr>
          <p:cNvPr id="19" name="Tool icon 4 circle"/>
          <p:cNvSpPr/>
          <p:nvPr/>
        </p:nvSpPr>
        <p:spPr>
          <a:xfrm>
            <a:off x="731520" y="3154680"/>
            <a:ext cx="502920" cy="502920"/>
          </a:xfrm>
          <a:prstGeom prst="ellipse">
            <a:avLst/>
          </a:prstGeom>
          <a:solidFill>
            <a:schemeClr val="accent1"/>
          </a:solidFill>
          <a:ln/>
        </p:spPr>
      </p:sp>
      <p:pic>
        <p:nvPicPr>
          <p:cNvPr id="20" name="Tool icon 4 image" descr="preencoded.png">    </p:cNvPr>
          <p:cNvPicPr>
            <a:picLocks noChangeAspect="1"/>
          </p:cNvPicPr>
          <p:nvPr/>
        </p:nvPicPr>
        <p:blipFill>
          <a:blip r:embed="rId4"/>
          <a:stretch>
            <a:fillRect/>
          </a:stretch>
        </p:blipFill>
        <p:spPr>
          <a:xfrm>
            <a:off x="867308" y="3290468"/>
            <a:ext cx="231343" cy="231343"/>
          </a:xfrm>
          <a:prstGeom prst="rect">
            <a:avLst/>
          </a:prstGeom>
        </p:spPr>
      </p:pic>
      <p:sp>
        <p:nvSpPr>
          <p:cNvPr id="21" name="Tool name 4"/>
          <p:cNvSpPr txBox="1"/>
          <p:nvPr/>
        </p:nvSpPr>
        <p:spPr>
          <a:xfrm>
            <a:off x="1371600" y="315468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Security</a:t>
            </a:r>
            <a:endParaRPr lang="en-US" sz="1800" dirty="0"/>
          </a:p>
        </p:txBody>
      </p:sp>
      <p:sp>
        <p:nvSpPr>
          <p:cNvPr id="22" name="Tool items 4"/>
          <p:cNvSpPr txBox="1"/>
          <p:nvPr/>
        </p:nvSpPr>
        <p:spPr>
          <a:xfrm>
            <a:off x="731520" y="3794760"/>
            <a:ext cx="2148840" cy="685800"/>
          </a:xfrm>
          <a:prstGeom prst="rect">
            <a:avLst/>
          </a:prstGeom>
          <a:noFill/>
          <a:ln/>
        </p:spPr>
        <p:txBody>
          <a:bodyPr wrap="square" lIns="0" tIns="0" rIns="0" bIns="0" rtlCol="0" anchor="t"/>
          <a:lstStyle/>
          <a:p>
            <a:pPr indent="0" marL="0">
              <a:buNone/>
            </a:pPr>
            <a:r>
              <a:rPr lang="en-US" sz="1400" dirty="0">
                <a:solidFill>
                  <a:schemeClr val="tx2"/>
                </a:solidFill>
              </a:rPr>
              <a:t>AES encryption</a:t>
            </a:r>
            <a:endParaRPr lang="en-US" sz="1400" dirty="0"/>
          </a:p>
          <a:p>
            <a:pPr indent="0" marL="0">
              <a:buNone/>
            </a:pPr>
            <a:r>
              <a:rPr lang="en-US" sz="1400" dirty="0">
                <a:solidFill>
                  <a:schemeClr val="tx2"/>
                </a:solidFill>
              </a:rPr>
              <a:t>Login and access control</a:t>
            </a:r>
            <a:endParaRPr lang="en-US" sz="1400" dirty="0"/>
          </a:p>
        </p:txBody>
      </p:sp>
      <p:sp>
        <p:nvSpPr>
          <p:cNvPr id="23" name="Tool card 5"/>
          <p:cNvSpPr/>
          <p:nvPr/>
        </p:nvSpPr>
        <p:spPr>
          <a:xfrm>
            <a:off x="3319272" y="2971800"/>
            <a:ext cx="2496312" cy="1600200"/>
          </a:xfrm>
          <a:prstGeom prst="roundRect">
            <a:avLst>
              <a:gd name="adj" fmla="val 5714"/>
            </a:avLst>
          </a:prstGeom>
          <a:solidFill>
            <a:schemeClr val="bg2"/>
          </a:solidFill>
          <a:ln/>
        </p:spPr>
      </p:sp>
      <p:sp>
        <p:nvSpPr>
          <p:cNvPr id="24" name="Tool icon 5 circle"/>
          <p:cNvSpPr/>
          <p:nvPr/>
        </p:nvSpPr>
        <p:spPr>
          <a:xfrm>
            <a:off x="3502152" y="3154680"/>
            <a:ext cx="502920" cy="502920"/>
          </a:xfrm>
          <a:prstGeom prst="ellipse">
            <a:avLst/>
          </a:prstGeom>
          <a:solidFill>
            <a:schemeClr val="accent1"/>
          </a:solidFill>
          <a:ln/>
        </p:spPr>
      </p:sp>
      <p:pic>
        <p:nvPicPr>
          <p:cNvPr id="25" name="Tool icon 5 image" descr="preencoded.png">    </p:cNvPr>
          <p:cNvPicPr>
            <a:picLocks noChangeAspect="1"/>
          </p:cNvPicPr>
          <p:nvPr/>
        </p:nvPicPr>
        <p:blipFill>
          <a:blip r:embed="rId5"/>
          <a:stretch>
            <a:fillRect/>
          </a:stretch>
        </p:blipFill>
        <p:spPr>
          <a:xfrm>
            <a:off x="3637940" y="3290468"/>
            <a:ext cx="231343" cy="231343"/>
          </a:xfrm>
          <a:prstGeom prst="rect">
            <a:avLst/>
          </a:prstGeom>
        </p:spPr>
      </p:pic>
      <p:sp>
        <p:nvSpPr>
          <p:cNvPr id="26" name="Tool name 5"/>
          <p:cNvSpPr txBox="1"/>
          <p:nvPr/>
        </p:nvSpPr>
        <p:spPr>
          <a:xfrm>
            <a:off x="4142232" y="315468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Build and tools</a:t>
            </a:r>
            <a:endParaRPr lang="en-US" sz="1800" dirty="0"/>
          </a:p>
        </p:txBody>
      </p:sp>
      <p:sp>
        <p:nvSpPr>
          <p:cNvPr id="27" name="Tool items 5"/>
          <p:cNvSpPr txBox="1"/>
          <p:nvPr/>
        </p:nvSpPr>
        <p:spPr>
          <a:xfrm>
            <a:off x="3502152" y="3794760"/>
            <a:ext cx="2148840" cy="685800"/>
          </a:xfrm>
          <a:prstGeom prst="rect">
            <a:avLst/>
          </a:prstGeom>
          <a:noFill/>
          <a:ln/>
        </p:spPr>
        <p:txBody>
          <a:bodyPr wrap="square" lIns="0" tIns="0" rIns="0" bIns="0" rtlCol="0" anchor="t"/>
          <a:lstStyle/>
          <a:p>
            <a:pPr indent="0" marL="0">
              <a:buNone/>
            </a:pPr>
            <a:r>
              <a:rPr lang="en-US" sz="1400" dirty="0">
                <a:solidFill>
                  <a:schemeClr val="tx2"/>
                </a:solidFill>
              </a:rPr>
              <a:t>Maven</a:t>
            </a:r>
            <a:endParaRPr lang="en-US" sz="1400" dirty="0"/>
          </a:p>
          <a:p>
            <a:pPr indent="0" marL="0">
              <a:buNone/>
            </a:pPr>
            <a:r>
              <a:rPr lang="en-US" sz="1400" dirty="0">
                <a:solidFill>
                  <a:schemeClr val="tx2"/>
                </a:solidFill>
              </a:rPr>
              <a:t>IDE (code editor)</a:t>
            </a:r>
            <a:endParaRPr lang="en-US" sz="1400" dirty="0"/>
          </a:p>
        </p:txBody>
      </p:sp>
      <p:sp>
        <p:nvSpPr>
          <p:cNvPr id="28" name="Tool card 6"/>
          <p:cNvSpPr/>
          <p:nvPr/>
        </p:nvSpPr>
        <p:spPr>
          <a:xfrm>
            <a:off x="6089904" y="2971800"/>
            <a:ext cx="2496312" cy="1600200"/>
          </a:xfrm>
          <a:prstGeom prst="roundRect">
            <a:avLst>
              <a:gd name="adj" fmla="val 5714"/>
            </a:avLst>
          </a:prstGeom>
          <a:solidFill>
            <a:schemeClr val="bg2"/>
          </a:solidFill>
          <a:ln/>
        </p:spPr>
      </p:sp>
      <p:sp>
        <p:nvSpPr>
          <p:cNvPr id="29" name="Tool icon 6 circle"/>
          <p:cNvSpPr/>
          <p:nvPr/>
        </p:nvSpPr>
        <p:spPr>
          <a:xfrm>
            <a:off x="6272784" y="3154680"/>
            <a:ext cx="502920" cy="502920"/>
          </a:xfrm>
          <a:prstGeom prst="ellipse">
            <a:avLst/>
          </a:prstGeom>
          <a:solidFill>
            <a:schemeClr val="accent1"/>
          </a:solidFill>
          <a:ln/>
        </p:spPr>
      </p:sp>
      <p:pic>
        <p:nvPicPr>
          <p:cNvPr id="30" name="Tool icon 6 image" descr="preencoded.png">    </p:cNvPr>
          <p:cNvPicPr>
            <a:picLocks noChangeAspect="1"/>
          </p:cNvPicPr>
          <p:nvPr/>
        </p:nvPicPr>
        <p:blipFill>
          <a:blip r:embed="rId6"/>
          <a:stretch>
            <a:fillRect/>
          </a:stretch>
        </p:blipFill>
        <p:spPr>
          <a:xfrm>
            <a:off x="6408572" y="3290468"/>
            <a:ext cx="231343" cy="231343"/>
          </a:xfrm>
          <a:prstGeom prst="rect">
            <a:avLst/>
          </a:prstGeom>
        </p:spPr>
      </p:pic>
      <p:sp>
        <p:nvSpPr>
          <p:cNvPr id="31" name="Tool name 6"/>
          <p:cNvSpPr txBox="1"/>
          <p:nvPr/>
        </p:nvSpPr>
        <p:spPr>
          <a:xfrm>
            <a:off x="6912864" y="3154680"/>
            <a:ext cx="1554480" cy="502920"/>
          </a:xfrm>
          <a:prstGeom prst="rect">
            <a:avLst/>
          </a:prstGeom>
          <a:noFill/>
          <a:ln/>
        </p:spPr>
        <p:txBody>
          <a:bodyPr wrap="square" lIns="0" tIns="0" rIns="0" bIns="0" rtlCol="0" anchor="ctr"/>
          <a:lstStyle/>
          <a:p>
            <a:pPr indent="0" marL="0">
              <a:buNone/>
            </a:pPr>
            <a:r>
              <a:rPr lang="en-US" sz="1800" b="1" dirty="0">
                <a:solidFill>
                  <a:schemeClr val="tx1"/>
                </a:solidFill>
              </a:rPr>
              <a:t>Communication</a:t>
            </a:r>
            <a:endParaRPr lang="en-US" sz="1800" dirty="0"/>
          </a:p>
        </p:txBody>
      </p:sp>
      <p:sp>
        <p:nvSpPr>
          <p:cNvPr id="32" name="Tool items 6"/>
          <p:cNvSpPr txBox="1"/>
          <p:nvPr/>
        </p:nvSpPr>
        <p:spPr>
          <a:xfrm>
            <a:off x="6272784" y="3794760"/>
            <a:ext cx="2148840" cy="685800"/>
          </a:xfrm>
          <a:prstGeom prst="rect">
            <a:avLst/>
          </a:prstGeom>
          <a:noFill/>
          <a:ln/>
        </p:spPr>
        <p:txBody>
          <a:bodyPr wrap="square" lIns="0" tIns="0" rIns="0" bIns="0" rtlCol="0" anchor="t"/>
          <a:lstStyle/>
          <a:p>
            <a:pPr indent="0" marL="0">
              <a:buNone/>
            </a:pPr>
            <a:r>
              <a:rPr lang="en-US" sz="1400" dirty="0">
                <a:solidFill>
                  <a:schemeClr val="tx2"/>
                </a:solidFill>
              </a:rPr>
              <a:t>REST APIs</a:t>
            </a:r>
            <a:endParaRPr lang="en-US" sz="1400" dirty="0"/>
          </a:p>
          <a:p>
            <a:pPr indent="0" marL="0">
              <a:buNone/>
            </a:pPr>
            <a:r>
              <a:rPr lang="en-US" sz="1400" dirty="0">
                <a:solidFill>
                  <a:schemeClr val="tx2"/>
                </a:solidFill>
              </a:rPr>
              <a:t>Frontend to backend</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Skills Gained and Learning Outcomes</a:t>
            </a:r>
            <a:endParaRPr lang="en-US" sz="3200" dirty="0"/>
          </a:p>
        </p:txBody>
      </p:sp>
      <p:sp>
        <p:nvSpPr>
          <p:cNvPr id="3" name="Skills card"/>
          <p:cNvSpPr/>
          <p:nvPr/>
        </p:nvSpPr>
        <p:spPr>
          <a:xfrm>
            <a:off x="548640" y="1188720"/>
            <a:ext cx="3931920" cy="3429000"/>
          </a:xfrm>
          <a:prstGeom prst="roundRect">
            <a:avLst>
              <a:gd name="adj" fmla="val 2667"/>
            </a:avLst>
          </a:prstGeom>
          <a:solidFill>
            <a:schemeClr val="bg2"/>
          </a:solidFill>
          <a:ln/>
        </p:spPr>
      </p:sp>
      <p:sp>
        <p:nvSpPr>
          <p:cNvPr id="4" name="Skills icon circle"/>
          <p:cNvSpPr/>
          <p:nvPr/>
        </p:nvSpPr>
        <p:spPr>
          <a:xfrm>
            <a:off x="777240" y="1371600"/>
            <a:ext cx="502920" cy="502920"/>
          </a:xfrm>
          <a:prstGeom prst="ellipse">
            <a:avLst/>
          </a:prstGeom>
          <a:solidFill>
            <a:schemeClr val="accent1"/>
          </a:solidFill>
          <a:ln/>
        </p:spPr>
      </p:sp>
      <p:pic>
        <p:nvPicPr>
          <p:cNvPr id="5" name="Skills icon image" descr="preencoded.png">    </p:cNvPr>
          <p:cNvPicPr>
            <a:picLocks noChangeAspect="1"/>
          </p:cNvPicPr>
          <p:nvPr/>
        </p:nvPicPr>
        <p:blipFill>
          <a:blip r:embed="rId1"/>
          <a:stretch>
            <a:fillRect/>
          </a:stretch>
        </p:blipFill>
        <p:spPr>
          <a:xfrm>
            <a:off x="913028" y="1507388"/>
            <a:ext cx="231343" cy="231343"/>
          </a:xfrm>
          <a:prstGeom prst="rect">
            <a:avLst/>
          </a:prstGeom>
        </p:spPr>
      </p:pic>
      <p:sp>
        <p:nvSpPr>
          <p:cNvPr id="6" name="Text 3"/>
          <p:cNvSpPr txBox="1"/>
          <p:nvPr/>
        </p:nvSpPr>
        <p:spPr>
          <a:xfrm>
            <a:off x="1417320" y="137160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Skills gained</a:t>
            </a:r>
            <a:endParaRPr lang="en-US" sz="1800" dirty="0"/>
          </a:p>
        </p:txBody>
      </p:sp>
      <p:sp>
        <p:nvSpPr>
          <p:cNvPr id="7" name="Skills list"/>
          <p:cNvSpPr txBox="1"/>
          <p:nvPr/>
        </p:nvSpPr>
        <p:spPr>
          <a:xfrm>
            <a:off x="777240" y="2057400"/>
            <a:ext cx="34747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Java and Spring Boot development</a:t>
            </a:r>
            <a:endParaRPr lang="en-US" sz="1400" dirty="0"/>
          </a:p>
          <a:p>
            <a:pPr marL="342900" indent="-342900">
              <a:spcAft>
                <a:spcPts val="600"/>
              </a:spcAft>
              <a:buSzPct val="100000"/>
              <a:buChar char="•"/>
            </a:pPr>
            <a:r>
              <a:rPr lang="en-US" sz="1400" dirty="0">
                <a:solidFill>
                  <a:schemeClr val="tx1"/>
                </a:solidFill>
              </a:rPr>
              <a:t>Using AES encryption in a real project</a:t>
            </a:r>
            <a:endParaRPr lang="en-US" sz="1400" dirty="0"/>
          </a:p>
          <a:p>
            <a:pPr marL="342900" indent="-342900">
              <a:spcAft>
                <a:spcPts val="600"/>
              </a:spcAft>
              <a:buSzPct val="100000"/>
              <a:buChar char="•"/>
            </a:pPr>
            <a:r>
              <a:rPr lang="en-US" sz="1400" dirty="0">
                <a:solidFill>
                  <a:schemeClr val="tx1"/>
                </a:solidFill>
              </a:rPr>
              <a:t>Database design with MySQL</a:t>
            </a:r>
            <a:endParaRPr lang="en-US" sz="1400" dirty="0"/>
          </a:p>
          <a:p>
            <a:pPr marL="342900" indent="-342900">
              <a:spcAft>
                <a:spcPts val="600"/>
              </a:spcAft>
              <a:buSzPct val="100000"/>
              <a:buChar char="•"/>
            </a:pPr>
            <a:r>
              <a:rPr lang="en-US" sz="1400" dirty="0">
                <a:solidFill>
                  <a:schemeClr val="tx1"/>
                </a:solidFill>
              </a:rPr>
              <a:t>Connecting frontend and backend with REST APIs</a:t>
            </a:r>
            <a:endParaRPr lang="en-US" sz="1400" dirty="0"/>
          </a:p>
          <a:p>
            <a:pPr marL="342900" indent="-342900">
              <a:spcAft>
                <a:spcPts val="600"/>
              </a:spcAft>
              <a:buSzPct val="100000"/>
              <a:buChar char="•"/>
            </a:pPr>
            <a:r>
              <a:rPr lang="en-US" sz="1400" dirty="0">
                <a:solidFill>
                  <a:schemeClr val="tx1"/>
                </a:solidFill>
              </a:rPr>
              <a:t>Testing, debugging and documentation</a:t>
            </a:r>
            <a:endParaRPr lang="en-US" sz="1400" dirty="0"/>
          </a:p>
        </p:txBody>
      </p:sp>
      <p:sp>
        <p:nvSpPr>
          <p:cNvPr id="8" name="Outcomes card"/>
          <p:cNvSpPr/>
          <p:nvPr/>
        </p:nvSpPr>
        <p:spPr>
          <a:xfrm>
            <a:off x="4663440" y="1188720"/>
            <a:ext cx="3931920" cy="3429000"/>
          </a:xfrm>
          <a:prstGeom prst="roundRect">
            <a:avLst>
              <a:gd name="adj" fmla="val 2667"/>
            </a:avLst>
          </a:prstGeom>
          <a:solidFill>
            <a:schemeClr val="bg2"/>
          </a:solidFill>
          <a:ln/>
        </p:spPr>
      </p:sp>
      <p:sp>
        <p:nvSpPr>
          <p:cNvPr id="9" name="Outcomes icon circle"/>
          <p:cNvSpPr/>
          <p:nvPr/>
        </p:nvSpPr>
        <p:spPr>
          <a:xfrm>
            <a:off x="4892040" y="1371600"/>
            <a:ext cx="502920" cy="502920"/>
          </a:xfrm>
          <a:prstGeom prst="ellipse">
            <a:avLst/>
          </a:prstGeom>
          <a:solidFill>
            <a:schemeClr val="accent1"/>
          </a:solidFill>
          <a:ln/>
        </p:spPr>
      </p:sp>
      <p:pic>
        <p:nvPicPr>
          <p:cNvPr id="10" name="Outcomes icon image" descr="preencoded.png">    </p:cNvPr>
          <p:cNvPicPr>
            <a:picLocks noChangeAspect="1"/>
          </p:cNvPicPr>
          <p:nvPr/>
        </p:nvPicPr>
        <p:blipFill>
          <a:blip r:embed="rId2"/>
          <a:stretch>
            <a:fillRect/>
          </a:stretch>
        </p:blipFill>
        <p:spPr>
          <a:xfrm>
            <a:off x="5027828" y="1507388"/>
            <a:ext cx="231343" cy="231343"/>
          </a:xfrm>
          <a:prstGeom prst="rect">
            <a:avLst/>
          </a:prstGeom>
        </p:spPr>
      </p:pic>
      <p:sp>
        <p:nvSpPr>
          <p:cNvPr id="11" name="Text 7"/>
          <p:cNvSpPr txBox="1"/>
          <p:nvPr/>
        </p:nvSpPr>
        <p:spPr>
          <a:xfrm>
            <a:off x="5532120" y="137160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What I learned</a:t>
            </a:r>
            <a:endParaRPr lang="en-US" sz="1800" dirty="0"/>
          </a:p>
        </p:txBody>
      </p:sp>
      <p:sp>
        <p:nvSpPr>
          <p:cNvPr id="12" name="Outcomes list"/>
          <p:cNvSpPr txBox="1"/>
          <p:nvPr/>
        </p:nvSpPr>
        <p:spPr>
          <a:xfrm>
            <a:off x="4892040" y="2057400"/>
            <a:ext cx="34747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Why data security matters (CIA Triad)</a:t>
            </a:r>
            <a:endParaRPr lang="en-US" sz="1400" dirty="0"/>
          </a:p>
          <a:p>
            <a:pPr marL="342900" indent="-342900">
              <a:spcAft>
                <a:spcPts val="600"/>
              </a:spcAft>
              <a:buSzPct val="100000"/>
              <a:buChar char="•"/>
            </a:pPr>
            <a:r>
              <a:rPr lang="en-US" sz="1400" dirty="0">
                <a:solidFill>
                  <a:schemeClr val="tx1"/>
                </a:solidFill>
              </a:rPr>
              <a:t>How common attacks work: phishing, malware, ransomware</a:t>
            </a:r>
            <a:endParaRPr lang="en-US" sz="1400" dirty="0"/>
          </a:p>
          <a:p>
            <a:pPr marL="342900" indent="-342900">
              <a:spcAft>
                <a:spcPts val="600"/>
              </a:spcAft>
              <a:buSzPct val="100000"/>
              <a:buChar char="•"/>
            </a:pPr>
            <a:r>
              <a:rPr lang="en-US" sz="1400" dirty="0">
                <a:solidFill>
                  <a:schemeClr val="tx1"/>
                </a:solidFill>
              </a:rPr>
              <a:t>Symmetric vs asymmetric encryption</a:t>
            </a:r>
            <a:endParaRPr lang="en-US" sz="1400" dirty="0"/>
          </a:p>
          <a:p>
            <a:pPr marL="342900" indent="-342900">
              <a:spcAft>
                <a:spcPts val="600"/>
              </a:spcAft>
              <a:buSzPct val="100000"/>
              <a:buChar char="•"/>
            </a:pPr>
            <a:r>
              <a:rPr lang="en-US" sz="1400" dirty="0">
                <a:solidFill>
                  <a:schemeClr val="tx1"/>
                </a:solidFill>
              </a:rPr>
              <a:t>How to build a secure full-stack application</a:t>
            </a:r>
            <a:endParaRPr lang="en-US" sz="1400" dirty="0"/>
          </a:p>
          <a:p>
            <a:pPr marL="342900" indent="-342900">
              <a:spcAft>
                <a:spcPts val="600"/>
              </a:spcAft>
              <a:buSzPct val="100000"/>
              <a:buChar char="•"/>
            </a:pPr>
            <a:r>
              <a:rPr lang="en-US" sz="1400" dirty="0">
                <a:solidFill>
                  <a:schemeClr val="tx1"/>
                </a:solidFill>
              </a:rPr>
              <a:t>How a real project runs: plan, build, test, present</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tx1"/>
                </a:solidFill>
              </a:rPr>
              <a:t>Challenges Faced and Solutions</a:t>
            </a:r>
            <a:endParaRPr lang="en-US" sz="3200" dirty="0"/>
          </a:p>
        </p:txBody>
      </p:sp>
      <p:sp>
        <p:nvSpPr>
          <p:cNvPr id="3" name="Challenge header"/>
          <p:cNvSpPr txBox="1"/>
          <p:nvPr/>
        </p:nvSpPr>
        <p:spPr>
          <a:xfrm>
            <a:off x="548640" y="1143000"/>
            <a:ext cx="3566160"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CHALLENGE</a:t>
            </a:r>
            <a:endParaRPr lang="en-US" sz="1200" dirty="0"/>
          </a:p>
        </p:txBody>
      </p:sp>
      <p:sp>
        <p:nvSpPr>
          <p:cNvPr id="4" name="Solution header"/>
          <p:cNvSpPr txBox="1"/>
          <p:nvPr/>
        </p:nvSpPr>
        <p:spPr>
          <a:xfrm>
            <a:off x="4846320" y="1143000"/>
            <a:ext cx="3749040"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SOLUTION</a:t>
            </a:r>
            <a:endParaRPr lang="en-US" sz="1200" dirty="0"/>
          </a:p>
        </p:txBody>
      </p:sp>
      <p:sp>
        <p:nvSpPr>
          <p:cNvPr id="5" name="Challenge 1"/>
          <p:cNvSpPr/>
          <p:nvPr/>
        </p:nvSpPr>
        <p:spPr>
          <a:xfrm>
            <a:off x="548640" y="1508760"/>
            <a:ext cx="3566160" cy="685800"/>
          </a:xfrm>
          <a:prstGeom prst="roundRect">
            <a:avLst>
              <a:gd name="adj" fmla="val 13333"/>
            </a:avLst>
          </a:prstGeom>
          <a:solidFill>
            <a:schemeClr val="bg2"/>
          </a:solidFill>
          <a:ln/>
        </p:spPr>
      </p:sp>
      <p:sp>
        <p:nvSpPr>
          <p:cNvPr id="6" name="Challenge text 1"/>
          <p:cNvSpPr txBox="1"/>
          <p:nvPr/>
        </p:nvSpPr>
        <p:spPr>
          <a:xfrm>
            <a:off x="731520" y="1508760"/>
            <a:ext cx="3200400" cy="685800"/>
          </a:xfrm>
          <a:prstGeom prst="rect">
            <a:avLst/>
          </a:prstGeom>
          <a:noFill/>
          <a:ln/>
        </p:spPr>
        <p:txBody>
          <a:bodyPr wrap="square" lIns="0" tIns="0" rIns="0" bIns="0" rtlCol="0" anchor="ctr"/>
          <a:lstStyle/>
          <a:p>
            <a:pPr indent="0" marL="0">
              <a:buNone/>
            </a:pPr>
            <a:r>
              <a:rPr lang="en-US" sz="1400" b="1" dirty="0">
                <a:solidFill>
                  <a:schemeClr val="tx1"/>
                </a:solidFill>
              </a:rPr>
              <a:t>Keeping the secret key safe and correct</a:t>
            </a:r>
            <a:endParaRPr lang="en-US" sz="1400" dirty="0"/>
          </a:p>
        </p:txBody>
      </p:sp>
      <p:sp>
        <p:nvSpPr>
          <p:cNvPr id="7" name="Arrow 1"/>
          <p:cNvSpPr/>
          <p:nvPr/>
        </p:nvSpPr>
        <p:spPr>
          <a:xfrm>
            <a:off x="4224528" y="1719072"/>
            <a:ext cx="512064" cy="265176"/>
          </a:xfrm>
          <a:prstGeom prst="rightArrow">
            <a:avLst/>
          </a:prstGeom>
          <a:solidFill>
            <a:schemeClr val="accent2"/>
          </a:solidFill>
          <a:ln/>
        </p:spPr>
      </p:sp>
      <p:sp>
        <p:nvSpPr>
          <p:cNvPr id="8" name="Solution 1"/>
          <p:cNvSpPr/>
          <p:nvPr/>
        </p:nvSpPr>
        <p:spPr>
          <a:xfrm>
            <a:off x="4846320" y="1508760"/>
            <a:ext cx="3749040" cy="685800"/>
          </a:xfrm>
          <a:prstGeom prst="roundRect">
            <a:avLst>
              <a:gd name="adj" fmla="val 13333"/>
            </a:avLst>
          </a:prstGeom>
          <a:solidFill>
            <a:schemeClr val="accent1"/>
          </a:solidFill>
          <a:ln/>
        </p:spPr>
      </p:sp>
      <p:sp>
        <p:nvSpPr>
          <p:cNvPr id="9" name="Solution text 1"/>
          <p:cNvSpPr txBox="1"/>
          <p:nvPr/>
        </p:nvSpPr>
        <p:spPr>
          <a:xfrm>
            <a:off x="5029200" y="1508760"/>
            <a:ext cx="3383280" cy="685800"/>
          </a:xfrm>
          <a:prstGeom prst="rect">
            <a:avLst/>
          </a:prstGeom>
          <a:noFill/>
          <a:ln/>
        </p:spPr>
        <p:txBody>
          <a:bodyPr wrap="square" lIns="0" tIns="0" rIns="0" bIns="0" rtlCol="0" anchor="ctr"/>
          <a:lstStyle/>
          <a:p>
            <a:pPr indent="0" marL="0">
              <a:buNone/>
            </a:pPr>
            <a:r>
              <a:rPr lang="en-US" sz="1400" dirty="0">
                <a:solidFill>
                  <a:schemeClr val="bg1"/>
                </a:solidFill>
              </a:rPr>
              <a:t>The key is checked before any file is decrypted</a:t>
            </a:r>
            <a:endParaRPr lang="en-US" sz="1400" dirty="0"/>
          </a:p>
        </p:txBody>
      </p:sp>
      <p:sp>
        <p:nvSpPr>
          <p:cNvPr id="10" name="Challenge 2"/>
          <p:cNvSpPr/>
          <p:nvPr/>
        </p:nvSpPr>
        <p:spPr>
          <a:xfrm>
            <a:off x="548640" y="2331720"/>
            <a:ext cx="3566160" cy="685800"/>
          </a:xfrm>
          <a:prstGeom prst="roundRect">
            <a:avLst>
              <a:gd name="adj" fmla="val 13333"/>
            </a:avLst>
          </a:prstGeom>
          <a:solidFill>
            <a:schemeClr val="bg2"/>
          </a:solidFill>
          <a:ln/>
        </p:spPr>
      </p:sp>
      <p:sp>
        <p:nvSpPr>
          <p:cNvPr id="11" name="Challenge text 2"/>
          <p:cNvSpPr txBox="1"/>
          <p:nvPr/>
        </p:nvSpPr>
        <p:spPr>
          <a:xfrm>
            <a:off x="731520" y="2331720"/>
            <a:ext cx="3200400" cy="685800"/>
          </a:xfrm>
          <a:prstGeom prst="rect">
            <a:avLst/>
          </a:prstGeom>
          <a:noFill/>
          <a:ln/>
        </p:spPr>
        <p:txBody>
          <a:bodyPr wrap="square" lIns="0" tIns="0" rIns="0" bIns="0" rtlCol="0" anchor="ctr"/>
          <a:lstStyle/>
          <a:p>
            <a:pPr indent="0" marL="0">
              <a:buNone/>
            </a:pPr>
            <a:r>
              <a:rPr lang="en-US" sz="1400" b="1" dirty="0">
                <a:solidFill>
                  <a:schemeClr val="tx1"/>
                </a:solidFill>
              </a:rPr>
              <a:t>Stopping unauthorized access</a:t>
            </a:r>
            <a:endParaRPr lang="en-US" sz="1400" dirty="0"/>
          </a:p>
        </p:txBody>
      </p:sp>
      <p:sp>
        <p:nvSpPr>
          <p:cNvPr id="12" name="Arrow 2"/>
          <p:cNvSpPr/>
          <p:nvPr/>
        </p:nvSpPr>
        <p:spPr>
          <a:xfrm>
            <a:off x="4224528" y="2542032"/>
            <a:ext cx="512064" cy="265176"/>
          </a:xfrm>
          <a:prstGeom prst="rightArrow">
            <a:avLst/>
          </a:prstGeom>
          <a:solidFill>
            <a:schemeClr val="accent2"/>
          </a:solidFill>
          <a:ln/>
        </p:spPr>
      </p:sp>
      <p:sp>
        <p:nvSpPr>
          <p:cNvPr id="13" name="Solution 2"/>
          <p:cNvSpPr/>
          <p:nvPr/>
        </p:nvSpPr>
        <p:spPr>
          <a:xfrm>
            <a:off x="4846320" y="2331720"/>
            <a:ext cx="3749040" cy="685800"/>
          </a:xfrm>
          <a:prstGeom prst="roundRect">
            <a:avLst>
              <a:gd name="adj" fmla="val 13333"/>
            </a:avLst>
          </a:prstGeom>
          <a:solidFill>
            <a:schemeClr val="accent1"/>
          </a:solidFill>
          <a:ln/>
        </p:spPr>
      </p:sp>
      <p:sp>
        <p:nvSpPr>
          <p:cNvPr id="14" name="Solution text 2"/>
          <p:cNvSpPr txBox="1"/>
          <p:nvPr/>
        </p:nvSpPr>
        <p:spPr>
          <a:xfrm>
            <a:off x="5029200" y="2331720"/>
            <a:ext cx="3383280" cy="685800"/>
          </a:xfrm>
          <a:prstGeom prst="rect">
            <a:avLst/>
          </a:prstGeom>
          <a:noFill/>
          <a:ln/>
        </p:spPr>
        <p:txBody>
          <a:bodyPr wrap="square" lIns="0" tIns="0" rIns="0" bIns="0" rtlCol="0" anchor="ctr"/>
          <a:lstStyle/>
          <a:p>
            <a:pPr indent="0" marL="0">
              <a:buNone/>
            </a:pPr>
            <a:r>
              <a:rPr lang="en-US" sz="1400" dirty="0">
                <a:solidFill>
                  <a:schemeClr val="bg1"/>
                </a:solidFill>
              </a:rPr>
              <a:t>Login, access control and role-based permissions</a:t>
            </a:r>
            <a:endParaRPr lang="en-US" sz="1400" dirty="0"/>
          </a:p>
        </p:txBody>
      </p:sp>
      <p:sp>
        <p:nvSpPr>
          <p:cNvPr id="15" name="Challenge 3"/>
          <p:cNvSpPr/>
          <p:nvPr/>
        </p:nvSpPr>
        <p:spPr>
          <a:xfrm>
            <a:off x="548640" y="3154680"/>
            <a:ext cx="3566160" cy="685800"/>
          </a:xfrm>
          <a:prstGeom prst="roundRect">
            <a:avLst>
              <a:gd name="adj" fmla="val 13333"/>
            </a:avLst>
          </a:prstGeom>
          <a:solidFill>
            <a:schemeClr val="bg2"/>
          </a:solidFill>
          <a:ln/>
        </p:spPr>
      </p:sp>
      <p:sp>
        <p:nvSpPr>
          <p:cNvPr id="16" name="Challenge text 3"/>
          <p:cNvSpPr txBox="1"/>
          <p:nvPr/>
        </p:nvSpPr>
        <p:spPr>
          <a:xfrm>
            <a:off x="731520" y="3154680"/>
            <a:ext cx="3200400" cy="685800"/>
          </a:xfrm>
          <a:prstGeom prst="rect">
            <a:avLst/>
          </a:prstGeom>
          <a:noFill/>
          <a:ln/>
        </p:spPr>
        <p:txBody>
          <a:bodyPr wrap="square" lIns="0" tIns="0" rIns="0" bIns="0" rtlCol="0" anchor="ctr"/>
          <a:lstStyle/>
          <a:p>
            <a:pPr indent="0" marL="0">
              <a:buNone/>
            </a:pPr>
            <a:r>
              <a:rPr lang="en-US" sz="1400" b="1" dirty="0">
                <a:solidFill>
                  <a:schemeClr val="tx1"/>
                </a:solidFill>
              </a:rPr>
              <a:t>Bugs and errors found during testing</a:t>
            </a:r>
            <a:endParaRPr lang="en-US" sz="1400" dirty="0"/>
          </a:p>
        </p:txBody>
      </p:sp>
      <p:sp>
        <p:nvSpPr>
          <p:cNvPr id="17" name="Arrow 3"/>
          <p:cNvSpPr/>
          <p:nvPr/>
        </p:nvSpPr>
        <p:spPr>
          <a:xfrm>
            <a:off x="4224528" y="3364992"/>
            <a:ext cx="512064" cy="265176"/>
          </a:xfrm>
          <a:prstGeom prst="rightArrow">
            <a:avLst/>
          </a:prstGeom>
          <a:solidFill>
            <a:schemeClr val="accent2"/>
          </a:solidFill>
          <a:ln/>
        </p:spPr>
      </p:sp>
      <p:sp>
        <p:nvSpPr>
          <p:cNvPr id="18" name="Solution 3"/>
          <p:cNvSpPr/>
          <p:nvPr/>
        </p:nvSpPr>
        <p:spPr>
          <a:xfrm>
            <a:off x="4846320" y="3154680"/>
            <a:ext cx="3749040" cy="685800"/>
          </a:xfrm>
          <a:prstGeom prst="roundRect">
            <a:avLst>
              <a:gd name="adj" fmla="val 13333"/>
            </a:avLst>
          </a:prstGeom>
          <a:solidFill>
            <a:schemeClr val="accent1"/>
          </a:solidFill>
          <a:ln/>
        </p:spPr>
      </p:sp>
      <p:sp>
        <p:nvSpPr>
          <p:cNvPr id="19" name="Solution text 3"/>
          <p:cNvSpPr txBox="1"/>
          <p:nvPr/>
        </p:nvSpPr>
        <p:spPr>
          <a:xfrm>
            <a:off x="5029200" y="3154680"/>
            <a:ext cx="3383280" cy="685800"/>
          </a:xfrm>
          <a:prstGeom prst="rect">
            <a:avLst/>
          </a:prstGeom>
          <a:noFill/>
          <a:ln/>
        </p:spPr>
        <p:txBody>
          <a:bodyPr wrap="square" lIns="0" tIns="0" rIns="0" bIns="0" rtlCol="0" anchor="ctr"/>
          <a:lstStyle/>
          <a:p>
            <a:pPr indent="0" marL="0">
              <a:buNone/>
            </a:pPr>
            <a:r>
              <a:rPr lang="en-US" sz="1400" dirty="0">
                <a:solidFill>
                  <a:schemeClr val="bg1"/>
                </a:solidFill>
              </a:rPr>
              <a:t>Unit and integration testing, then fixes and code clean-up</a:t>
            </a:r>
            <a:endParaRPr lang="en-US" sz="1400" dirty="0"/>
          </a:p>
        </p:txBody>
      </p:sp>
      <p:sp>
        <p:nvSpPr>
          <p:cNvPr id="20" name="Challenge 4"/>
          <p:cNvSpPr/>
          <p:nvPr/>
        </p:nvSpPr>
        <p:spPr>
          <a:xfrm>
            <a:off x="548640" y="3977640"/>
            <a:ext cx="3566160" cy="685800"/>
          </a:xfrm>
          <a:prstGeom prst="roundRect">
            <a:avLst>
              <a:gd name="adj" fmla="val 13333"/>
            </a:avLst>
          </a:prstGeom>
          <a:solidFill>
            <a:schemeClr val="bg2"/>
          </a:solidFill>
          <a:ln/>
        </p:spPr>
      </p:sp>
      <p:sp>
        <p:nvSpPr>
          <p:cNvPr id="21" name="Challenge text 4"/>
          <p:cNvSpPr txBox="1"/>
          <p:nvPr/>
        </p:nvSpPr>
        <p:spPr>
          <a:xfrm>
            <a:off x="731520" y="3977640"/>
            <a:ext cx="3200400" cy="685800"/>
          </a:xfrm>
          <a:prstGeom prst="rect">
            <a:avLst/>
          </a:prstGeom>
          <a:noFill/>
          <a:ln/>
        </p:spPr>
        <p:txBody>
          <a:bodyPr wrap="square" lIns="0" tIns="0" rIns="0" bIns="0" rtlCol="0" anchor="ctr"/>
          <a:lstStyle/>
          <a:p>
            <a:pPr indent="0" marL="0">
              <a:buNone/>
            </a:pPr>
            <a:r>
              <a:rPr lang="en-US" sz="1400" b="1" dirty="0">
                <a:solidFill>
                  <a:schemeClr val="tx1"/>
                </a:solidFill>
              </a:rPr>
              <a:t>Slower processing for large files</a:t>
            </a:r>
            <a:endParaRPr lang="en-US" sz="1400" dirty="0"/>
          </a:p>
        </p:txBody>
      </p:sp>
      <p:sp>
        <p:nvSpPr>
          <p:cNvPr id="22" name="Arrow 4"/>
          <p:cNvSpPr/>
          <p:nvPr/>
        </p:nvSpPr>
        <p:spPr>
          <a:xfrm>
            <a:off x="4224528" y="4187952"/>
            <a:ext cx="512064" cy="265176"/>
          </a:xfrm>
          <a:prstGeom prst="rightArrow">
            <a:avLst/>
          </a:prstGeom>
          <a:solidFill>
            <a:schemeClr val="accent2"/>
          </a:solidFill>
          <a:ln/>
        </p:spPr>
      </p:sp>
      <p:sp>
        <p:nvSpPr>
          <p:cNvPr id="23" name="Solution 4"/>
          <p:cNvSpPr/>
          <p:nvPr/>
        </p:nvSpPr>
        <p:spPr>
          <a:xfrm>
            <a:off x="4846320" y="3977640"/>
            <a:ext cx="3749040" cy="685800"/>
          </a:xfrm>
          <a:prstGeom prst="roundRect">
            <a:avLst>
              <a:gd name="adj" fmla="val 13333"/>
            </a:avLst>
          </a:prstGeom>
          <a:solidFill>
            <a:schemeClr val="accent1"/>
          </a:solidFill>
          <a:ln/>
        </p:spPr>
      </p:sp>
      <p:sp>
        <p:nvSpPr>
          <p:cNvPr id="24" name="Solution text 4"/>
          <p:cNvSpPr txBox="1"/>
          <p:nvPr/>
        </p:nvSpPr>
        <p:spPr>
          <a:xfrm>
            <a:off x="5029200" y="3977640"/>
            <a:ext cx="3383280" cy="685800"/>
          </a:xfrm>
          <a:prstGeom prst="rect">
            <a:avLst/>
          </a:prstGeom>
          <a:noFill/>
          <a:ln/>
        </p:spPr>
        <p:txBody>
          <a:bodyPr wrap="square" lIns="0" tIns="0" rIns="0" bIns="0" rtlCol="0" anchor="ctr"/>
          <a:lstStyle/>
          <a:p>
            <a:pPr indent="0" marL="0">
              <a:buNone/>
            </a:pPr>
            <a:r>
              <a:rPr lang="en-US" sz="1400" dirty="0">
                <a:solidFill>
                  <a:schemeClr val="bg1"/>
                </a:solidFill>
              </a:rPr>
              <a:t>Tested different file types and optimized the code</a:t>
            </a:r>
            <a:endParaRPr lang="en-US" sz="1400" dirty="0"/>
          </a:p>
        </p:txBody>
      </p:sp>
      <p:sp>
        <p:nvSpPr>
          <p:cNvPr id="25" name="Slide Number Placeholder 0"/>
          <p:cNvSpPr>
            <a:spLocks noGrp="1"/>
          </p:cNvSpPr>
          <p:nvPr>
            <p:ph type="sldNum" sz="quarter" idx="4294967295"/>
          </p:nvPr>
        </p:nvSpPr>
        <p:spPr>
          <a:xfrm>
            <a:off x="8229600" y="480060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3" name="Conclusion icon 1 circle"/>
          <p:cNvSpPr/>
          <p:nvPr/>
        </p:nvSpPr>
        <p:spPr>
          <a:xfrm>
            <a:off x="548640" y="1325880"/>
            <a:ext cx="548640" cy="548640"/>
          </a:xfrm>
          <a:prstGeom prst="ellipse">
            <a:avLst/>
          </a:prstGeom>
          <a:solidFill>
            <a:schemeClr val="accent1"/>
          </a:solidFill>
          <a:ln/>
        </p:spPr>
      </p:sp>
      <p:pic>
        <p:nvPicPr>
          <p:cNvPr id="4" name="Conclusion icon 1 image" descr="preencoded.png">    </p:cNvPr>
          <p:cNvPicPr>
            <a:picLocks noChangeAspect="1"/>
          </p:cNvPicPr>
          <p:nvPr/>
        </p:nvPicPr>
        <p:blipFill>
          <a:blip r:embed="rId1"/>
          <a:stretch>
            <a:fillRect/>
          </a:stretch>
        </p:blipFill>
        <p:spPr>
          <a:xfrm>
            <a:off x="696773" y="1474013"/>
            <a:ext cx="252374" cy="252374"/>
          </a:xfrm>
          <a:prstGeom prst="rect">
            <a:avLst/>
          </a:prstGeom>
        </p:spPr>
      </p:pic>
      <p:sp>
        <p:nvSpPr>
          <p:cNvPr id="5" name="Conclusion text 1"/>
          <p:cNvSpPr txBox="1"/>
          <p:nvPr/>
        </p:nvSpPr>
        <p:spPr>
          <a:xfrm>
            <a:off x="1325880" y="1234440"/>
            <a:ext cx="4023360" cy="731520"/>
          </a:xfrm>
          <a:prstGeom prst="rect">
            <a:avLst/>
          </a:prstGeom>
          <a:noFill/>
          <a:ln/>
        </p:spPr>
        <p:txBody>
          <a:bodyPr wrap="square" lIns="0" tIns="0" rIns="0" bIns="0" rtlCol="0" anchor="ctr"/>
          <a:lstStyle/>
          <a:p>
            <a:pPr indent="0" marL="0">
              <a:buNone/>
            </a:pPr>
            <a:r>
              <a:rPr lang="en-US" sz="1600" dirty="0">
                <a:solidFill>
                  <a:schemeClr val="bg1"/>
                </a:solidFill>
              </a:rPr>
              <a:t>Completed a 30-day Cyber Security internship at Fantasy Solution</a:t>
            </a:r>
            <a:endParaRPr lang="en-US" sz="1600" dirty="0"/>
          </a:p>
        </p:txBody>
      </p:sp>
      <p:sp>
        <p:nvSpPr>
          <p:cNvPr id="6" name="Conclusion icon 2 circle"/>
          <p:cNvSpPr/>
          <p:nvPr/>
        </p:nvSpPr>
        <p:spPr>
          <a:xfrm>
            <a:off x="548640" y="2240280"/>
            <a:ext cx="548640" cy="548640"/>
          </a:xfrm>
          <a:prstGeom prst="ellipse">
            <a:avLst/>
          </a:prstGeom>
          <a:solidFill>
            <a:schemeClr val="accent1"/>
          </a:solidFill>
          <a:ln/>
        </p:spPr>
      </p:sp>
      <p:pic>
        <p:nvPicPr>
          <p:cNvPr id="7" name="Conclusion icon 2 image" descr="preencoded.png">    </p:cNvPr>
          <p:cNvPicPr>
            <a:picLocks noChangeAspect="1"/>
          </p:cNvPicPr>
          <p:nvPr/>
        </p:nvPicPr>
        <p:blipFill>
          <a:blip r:embed="rId2"/>
          <a:stretch>
            <a:fillRect/>
          </a:stretch>
        </p:blipFill>
        <p:spPr>
          <a:xfrm>
            <a:off x="696773" y="2388413"/>
            <a:ext cx="252374" cy="252374"/>
          </a:xfrm>
          <a:prstGeom prst="rect">
            <a:avLst/>
          </a:prstGeom>
        </p:spPr>
      </p:pic>
      <p:sp>
        <p:nvSpPr>
          <p:cNvPr id="8" name="Conclusion text 2"/>
          <p:cNvSpPr txBox="1"/>
          <p:nvPr/>
        </p:nvSpPr>
        <p:spPr>
          <a:xfrm>
            <a:off x="1325880" y="2148840"/>
            <a:ext cx="4023360" cy="731520"/>
          </a:xfrm>
          <a:prstGeom prst="rect">
            <a:avLst/>
          </a:prstGeom>
          <a:noFill/>
          <a:ln/>
        </p:spPr>
        <p:txBody>
          <a:bodyPr wrap="square" lIns="0" tIns="0" rIns="0" bIns="0" rtlCol="0" anchor="ctr"/>
          <a:lstStyle/>
          <a:p>
            <a:pPr indent="0" marL="0">
              <a:buNone/>
            </a:pPr>
            <a:r>
              <a:rPr lang="en-US" sz="1600" dirty="0">
                <a:solidFill>
                  <a:schemeClr val="bg1"/>
                </a:solidFill>
              </a:rPr>
              <a:t>Built a working web app that encrypts and decrypts files using AES</a:t>
            </a:r>
            <a:endParaRPr lang="en-US" sz="1600" dirty="0"/>
          </a:p>
        </p:txBody>
      </p:sp>
      <p:sp>
        <p:nvSpPr>
          <p:cNvPr id="9" name="Conclusion icon 3 circle"/>
          <p:cNvSpPr/>
          <p:nvPr/>
        </p:nvSpPr>
        <p:spPr>
          <a:xfrm>
            <a:off x="548640" y="3154680"/>
            <a:ext cx="548640" cy="548640"/>
          </a:xfrm>
          <a:prstGeom prst="ellipse">
            <a:avLst/>
          </a:prstGeom>
          <a:solidFill>
            <a:schemeClr val="accent1"/>
          </a:solidFill>
          <a:ln/>
        </p:spPr>
      </p:sp>
      <p:pic>
        <p:nvPicPr>
          <p:cNvPr id="10" name="Conclusion icon 3 image" descr="preencoded.png">    </p:cNvPr>
          <p:cNvPicPr>
            <a:picLocks noChangeAspect="1"/>
          </p:cNvPicPr>
          <p:nvPr/>
        </p:nvPicPr>
        <p:blipFill>
          <a:blip r:embed="rId3"/>
          <a:stretch>
            <a:fillRect/>
          </a:stretch>
        </p:blipFill>
        <p:spPr>
          <a:xfrm>
            <a:off x="696773" y="3302813"/>
            <a:ext cx="252374" cy="252374"/>
          </a:xfrm>
          <a:prstGeom prst="rect">
            <a:avLst/>
          </a:prstGeom>
        </p:spPr>
      </p:pic>
      <p:sp>
        <p:nvSpPr>
          <p:cNvPr id="11" name="Conclusion text 3"/>
          <p:cNvSpPr txBox="1"/>
          <p:nvPr/>
        </p:nvSpPr>
        <p:spPr>
          <a:xfrm>
            <a:off x="1325880" y="3063240"/>
            <a:ext cx="4023360" cy="731520"/>
          </a:xfrm>
          <a:prstGeom prst="rect">
            <a:avLst/>
          </a:prstGeom>
          <a:noFill/>
          <a:ln/>
        </p:spPr>
        <p:txBody>
          <a:bodyPr wrap="square" lIns="0" tIns="0" rIns="0" bIns="0" rtlCol="0" anchor="ctr"/>
          <a:lstStyle/>
          <a:p>
            <a:pPr indent="0" marL="0">
              <a:buNone/>
            </a:pPr>
            <a:r>
              <a:rPr lang="en-US" sz="1600" dirty="0">
                <a:solidFill>
                  <a:schemeClr val="bg1"/>
                </a:solidFill>
              </a:rPr>
              <a:t>Gained hands-on skills in cybersecurity and full-stack Java development</a:t>
            </a:r>
            <a:endParaRPr lang="en-US" sz="1600" dirty="0"/>
          </a:p>
        </p:txBody>
      </p:sp>
      <p:sp>
        <p:nvSpPr>
          <p:cNvPr id="12" name="Future work card"/>
          <p:cNvSpPr/>
          <p:nvPr/>
        </p:nvSpPr>
        <p:spPr>
          <a:xfrm>
            <a:off x="5669280" y="1234440"/>
            <a:ext cx="2926080" cy="2651760"/>
          </a:xfrm>
          <a:prstGeom prst="roundRect">
            <a:avLst>
              <a:gd name="adj" fmla="val 3448"/>
            </a:avLst>
          </a:prstGeom>
          <a:solidFill>
            <a:schemeClr val="tx2"/>
          </a:solidFill>
          <a:ln/>
        </p:spPr>
      </p:sp>
      <p:sp>
        <p:nvSpPr>
          <p:cNvPr id="13" name="Text 8"/>
          <p:cNvSpPr txBox="1"/>
          <p:nvPr/>
        </p:nvSpPr>
        <p:spPr>
          <a:xfrm>
            <a:off x="5897880" y="1371600"/>
            <a:ext cx="2468880" cy="411480"/>
          </a:xfrm>
          <a:prstGeom prst="rect">
            <a:avLst/>
          </a:prstGeom>
          <a:noFill/>
          <a:ln/>
        </p:spPr>
        <p:txBody>
          <a:bodyPr wrap="square" lIns="0" tIns="0" rIns="0" bIns="0" rtlCol="0" anchor="ctr"/>
          <a:lstStyle/>
          <a:p>
            <a:pPr indent="0" marL="0">
              <a:buNone/>
            </a:pPr>
            <a:r>
              <a:rPr lang="en-US" sz="1800" b="1" dirty="0">
                <a:solidFill>
                  <a:schemeClr val="accent2"/>
                </a:solidFill>
              </a:rPr>
              <a:t>Future work</a:t>
            </a:r>
            <a:endParaRPr lang="en-US" sz="1800" dirty="0"/>
          </a:p>
        </p:txBody>
      </p:sp>
      <p:sp>
        <p:nvSpPr>
          <p:cNvPr id="14" name="Future work list"/>
          <p:cNvSpPr txBox="1"/>
          <p:nvPr/>
        </p:nvSpPr>
        <p:spPr>
          <a:xfrm>
            <a:off x="5897880" y="1920240"/>
            <a:ext cx="25146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AES with RSA for safer key sharing</a:t>
            </a:r>
            <a:endParaRPr lang="en-US" sz="1400" dirty="0"/>
          </a:p>
          <a:p>
            <a:pPr marL="342900" indent="-342900">
              <a:spcAft>
                <a:spcPts val="800"/>
              </a:spcAft>
              <a:buSzPct val="100000"/>
              <a:buChar char="•"/>
            </a:pPr>
            <a:r>
              <a:rPr lang="en-US" sz="1400" dirty="0">
                <a:solidFill>
                  <a:schemeClr val="bg1"/>
                </a:solidFill>
              </a:rPr>
              <a:t>Two-factor authentication (OTP)</a:t>
            </a:r>
            <a:endParaRPr lang="en-US" sz="1400" dirty="0"/>
          </a:p>
          <a:p>
            <a:pPr marL="342900" indent="-342900">
              <a:spcAft>
                <a:spcPts val="800"/>
              </a:spcAft>
              <a:buSzPct val="100000"/>
              <a:buChar char="•"/>
            </a:pPr>
            <a:r>
              <a:rPr lang="en-US" sz="1400" dirty="0">
                <a:solidFill>
                  <a:schemeClr val="bg1"/>
                </a:solidFill>
              </a:rPr>
              <a:t>Cloud-based file storage and sharing</a:t>
            </a:r>
            <a:endParaRPr lang="en-US" sz="1400" dirty="0"/>
          </a:p>
        </p:txBody>
      </p:sp>
      <p:sp>
        <p:nvSpPr>
          <p:cNvPr id="15" name="Closing line"/>
          <p:cNvSpPr txBox="1"/>
          <p:nvPr/>
        </p:nvSpPr>
        <p:spPr>
          <a:xfrm>
            <a:off x="548640" y="4114800"/>
            <a:ext cx="8046720" cy="457200"/>
          </a:xfrm>
          <a:prstGeom prst="rect">
            <a:avLst/>
          </a:prstGeom>
          <a:noFill/>
          <a:ln/>
        </p:spPr>
        <p:txBody>
          <a:bodyPr wrap="square" lIns="0" tIns="0" rIns="0" bIns="0" rtlCol="0" anchor="ctr"/>
          <a:lstStyle/>
          <a:p>
            <a:pPr indent="0" marL="0">
              <a:buNone/>
            </a:pPr>
            <a:r>
              <a:rPr lang="en-US" sz="2400" b="1" dirty="0">
                <a:solidFill>
                  <a:schemeClr val="accent2"/>
                </a:solidFill>
              </a:rPr>
              <a:t>Thank you. Questions?</a:t>
            </a:r>
            <a:endParaRPr lang="en-US" sz="2400" dirty="0"/>
          </a:p>
        </p:txBody>
      </p:sp>
    </p:spTree>
  </p:cSld>
  <p:clrMapOvr>
    <a:masterClrMapping/>
  </p:clrMapOvr>
</p:sld>
</file>

<file path=ppt/theme/theme1.xml><?xml version="1.0" encoding="utf-8"?>
<a:theme xmlns:a="http://schemas.openxmlformats.org/drawingml/2006/main" name="Cyber Review">
  <a:themeElements>
    <a:clrScheme name="Cyber Review">
      <a:dk1>
        <a:srgbClr val="0F1B2D"/>
      </a:dk1>
      <a:lt1>
        <a:srgbClr val="FFFFFF"/>
      </a:lt1>
      <a:dk2>
        <a:srgbClr val="1F3A4D"/>
      </a:dk2>
      <a:lt2>
        <a:srgbClr val="E8F3F2"/>
      </a:lt2>
      <a:accent1>
        <a:srgbClr val="0B7A6E"/>
      </a:accent1>
      <a:accent2>
        <a:srgbClr val="F5A524"/>
      </a:accent2>
      <a:accent3>
        <a:srgbClr val="2563A8"/>
      </a:accent3>
      <a:accent4>
        <a:srgbClr val="5B6B7C"/>
      </a:accent4>
      <a:accent5>
        <a:srgbClr val="C2410C"/>
      </a:accent5>
      <a:accent6>
        <a:srgbClr val="6D5BB5"/>
      </a:accent6>
      <a:hlink>
        <a:srgbClr val="0B7A6E"/>
      </a:hlink>
      <a:folHlink>
        <a:srgbClr val="5B6B7C"/>
      </a:folHlink>
    </a:clrScheme>
    <a:fontScheme name="Cyber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Summer Internship Review - File Encryption and Decryption using AES</dc:title>
  <dc:subject>PptxGenJS Presentation</dc:subject>
  <dc:creator>Sribalaji G</dc:creator>
  <cp:lastModifiedBy>Sribalaji G</cp:lastModifiedBy>
  <cp:revision>1</cp:revision>
  <dcterms:created xsi:type="dcterms:W3CDTF">2026-10-21T15:52:45Z</dcterms:created>
  <dcterms:modified xsi:type="dcterms:W3CDTF">2026-10-21T15:52:45Z</dcterms:modified>
</cp:coreProperties>
</file>